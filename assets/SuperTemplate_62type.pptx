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25949686441288856"/>
          <c:w val="0.9948498207737628"/>
          <c:h val="0.8702515677935557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3が進む場合</c:v>
                </c:pt>
              </c:strCache>
            </c:strRef>
          </c:tx>
          <c:spPr>
            <a:solidFill>
              <a:srgbClr val="322014"/>
            </a:solidFill>
            <a:ln w="28575" cap="flat">
              <a:solidFill>
                <a:srgbClr val="3220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22014"/>
              </a:solidFill>
              <a:ln w="9525" cap="flat">
                <a:solidFill>
                  <a:srgbClr val="3220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YYYY</c:v>
                  </c:pt>
                  <c:pt idx="1">
                    <c:v>YYYY</c:v>
                  </c:pt>
                  <c:pt idx="2">
                    <c:v>YYYY</c:v>
                  </c:pt>
                  <c:pt idx="3">
                    <c:v>YYYY</c:v>
                  </c:pt>
                  <c:pt idx="4">
                    <c:v>YYYY</c:v>
                  </c:pt>
                  <c:pt idx="5">
                    <c:v>YYYY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44</c:v>
                </c:pt>
                <c:pt idx="2">
                  <c:v>56</c:v>
                </c:pt>
                <c:pt idx="3">
                  <c:v>72</c:v>
                </c:pt>
                <c:pt idx="4">
                  <c:v>91</c:v>
                </c:pt>
                <c:pt idx="5">
                  <c:v>114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現状の延長</c:v>
                </c:pt>
              </c:strCache>
            </c:strRef>
          </c:tx>
          <c:spPr>
            <a:solidFill>
              <a:srgbClr val="5A3921"/>
            </a:solidFill>
            <a:ln w="28575" cap="flat">
              <a:solidFill>
                <a:srgbClr val="5A392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3921"/>
              </a:solidFill>
              <a:ln w="9525" cap="flat">
                <a:solidFill>
                  <a:srgbClr val="5A392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YYYY</c:v>
                  </c:pt>
                  <c:pt idx="1">
                    <c:v>YYYY</c:v>
                  </c:pt>
                  <c:pt idx="2">
                    <c:v>YYYY</c:v>
                  </c:pt>
                  <c:pt idx="3">
                    <c:v>YYYY</c:v>
                  </c:pt>
                  <c:pt idx="4">
                    <c:v>YYYY</c:v>
                  </c:pt>
                  <c:pt idx="5">
                    <c:v>YYYY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43</c:v>
                </c:pt>
                <c:pt idx="2">
                  <c:v>53</c:v>
                </c:pt>
                <c:pt idx="3">
                  <c:v>65</c:v>
                </c:pt>
                <c:pt idx="4">
                  <c:v>80</c:v>
                </c:pt>
                <c:pt idx="5">
                  <c:v>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Text 4が遅れる場合</c:v>
                </c:pt>
              </c:strCache>
            </c:strRef>
          </c:tx>
          <c:spPr>
            <a:solidFill>
              <a:srgbClr val="C5A681"/>
            </a:solidFill>
            <a:ln w="28575" cap="flat">
              <a:solidFill>
                <a:srgbClr val="C5A6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5A681"/>
              </a:solidFill>
              <a:ln w="9525" cap="flat">
                <a:solidFill>
                  <a:srgbClr val="C5A6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YYYY</c:v>
                  </c:pt>
                  <c:pt idx="1">
                    <c:v>YYYY</c:v>
                  </c:pt>
                  <c:pt idx="2">
                    <c:v>YYYY</c:v>
                  </c:pt>
                  <c:pt idx="3">
                    <c:v>YYYY</c:v>
                  </c:pt>
                  <c:pt idx="4">
                    <c:v>YYYY</c:v>
                  </c:pt>
                  <c:pt idx="5">
                    <c:v>YYYY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35</c:v>
                </c:pt>
                <c:pt idx="1">
                  <c:v>42</c:v>
                </c:pt>
                <c:pt idx="2">
                  <c:v>50</c:v>
                </c:pt>
                <c:pt idx="3">
                  <c:v>59</c:v>
                </c:pt>
                <c:pt idx="4">
                  <c:v>70</c:v>
                </c:pt>
                <c:pt idx="5">
                  <c:v>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9050" cap="flat">
            <a:solidFill>
              <a:srgbClr val="322014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22014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2"/>
          <c:w val="1"/>
          <c:h val="0.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増える分</c:v>
                </c:pt>
              </c:strCache>
            </c:strRef>
          </c:tx>
          <c:spPr>
            <a:solidFill>
              <a:srgbClr val="5A3921"/>
            </a:solidFill>
            <a:effectLst/>
          </c:spPr>
          <c:invertIfNegative val="0"/>
          <c:dLbls>
            <c:numFmt formatCode="#,##0;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Yu Gothic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ラベル 2</c:v>
                  </c:pt>
                  <c:pt idx="1">
                    <c:v>ラベル 3</c:v>
                  </c:pt>
                  <c:pt idx="2">
                    <c:v>ラベル 4</c:v>
                  </c:pt>
                  <c:pt idx="3">
                    <c:v>ラベル 5</c:v>
                  </c:pt>
                  <c:pt idx="4">
                    <c:v>ラベル 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68</c:v>
                </c:pt>
                <c:pt idx="2">
                  <c:v>32</c:v>
                </c:pt>
                <c:pt idx="3">
                  <c:v>10</c:v>
                </c:pt>
                <c:pt idx="4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減る分</c:v>
                </c:pt>
              </c:strCache>
            </c:strRef>
          </c:tx>
          <c:spPr>
            <a:solidFill>
              <a:srgbClr val="322014"/>
            </a:solidFill>
            <a:effectLst/>
          </c:spPr>
          <c:invertIfNegative val="0"/>
          <c:dLbls>
            <c:numFmt formatCode="#,##0;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Yu Gothic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ラベル 2</c:v>
                  </c:pt>
                  <c:pt idx="1">
                    <c:v>ラベル 3</c:v>
                  </c:pt>
                  <c:pt idx="2">
                    <c:v>ラベル 4</c:v>
                  </c:pt>
                  <c:pt idx="3">
                    <c:v>ラベル 5</c:v>
                  </c:pt>
                  <c:pt idx="4">
                    <c:v>ラベル 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-50</c:v>
                </c:pt>
                <c:pt idx="1">
                  <c:v>-88</c:v>
                </c:pt>
                <c:pt idx="2">
                  <c:v>-12</c:v>
                </c:pt>
                <c:pt idx="3">
                  <c:v>-43</c:v>
                </c:pt>
                <c:pt idx="4">
                  <c:v>-46</c:v>
                </c:pt>
              </c:numCache>
            </c:numRef>
          </c:val>
        </c:ser>
        <c:dLbls>
          <c:numFmt formatCode="#,##0;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Yu Gothic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9050" cap="flat">
            <a:solidFill>
              <a:srgbClr val="322014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22014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-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3"/>
          <c:w val="1"/>
          <c:h val="0.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指標名</c:v>
                </c:pt>
              </c:strCache>
            </c:strRef>
          </c:tx>
          <c:spPr>
            <a:solidFill>
              <a:srgbClr val="5A39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22014"/>
                    </a:solidFill>
                    <a:latin typeface="Yu 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39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392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392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392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A392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7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8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29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0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1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2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3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4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5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6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7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8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39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0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1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2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3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4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5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6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7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8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dPt>
            <c:idx val="49"/>
            <c:invertIfNegative val="0"/>
            <c:bubble3D val="0"/>
            <c:spPr>
              <a:solidFill>
                <a:srgbClr val="C5A681"/>
              </a:solidFill>
              <a:effectLst/>
            </c:spPr>
          </c:dPt>
          <c:cat>
            <c:multiLvlStrRef>
              <c:f>Sheet1!$A$2:$A$51</c:f>
              <c:multiLvlStrCache>
                <c:ptCount val="50"/>
                <c:lvl>
                  <c:pt idx="0">
                    <c:v>ラベル 1</c:v>
                  </c:pt>
                  <c:pt idx="1">
                    <c:v>ラベル 2</c:v>
                  </c:pt>
                  <c:pt idx="2">
                    <c:v>ラベル 3</c:v>
                  </c:pt>
                  <c:pt idx="3">
                    <c:v>ラベル 4</c:v>
                  </c:pt>
                  <c:pt idx="4">
                    <c:v>ラベル 5</c:v>
                  </c:pt>
                  <c:pt idx="5">
                    <c:v>ラベル 6</c:v>
                  </c:pt>
                  <c:pt idx="6">
                    <c:v>ラベル 7</c:v>
                  </c:pt>
                  <c:pt idx="7">
                    <c:v>ラベル 8</c:v>
                  </c:pt>
                  <c:pt idx="8">
                    <c:v>ラベル 9</c:v>
                  </c:pt>
                  <c:pt idx="9">
                    <c:v>ラベル 10</c:v>
                  </c:pt>
                  <c:pt idx="10">
                    <c:v>ラベル 11</c:v>
                  </c:pt>
                  <c:pt idx="11">
                    <c:v>ラベル 12</c:v>
                  </c:pt>
                  <c:pt idx="12">
                    <c:v>ラベル 13</c:v>
                  </c:pt>
                  <c:pt idx="13">
                    <c:v>ラベル 14</c:v>
                  </c:pt>
                  <c:pt idx="14">
                    <c:v>ラベル 15</c:v>
                  </c:pt>
                  <c:pt idx="15">
                    <c:v>ラベル 16</c:v>
                  </c:pt>
                  <c:pt idx="16">
                    <c:v>ラベル 17</c:v>
                  </c:pt>
                  <c:pt idx="17">
                    <c:v>ラベル 18</c:v>
                  </c:pt>
                  <c:pt idx="18">
                    <c:v>ラベル 19</c:v>
                  </c:pt>
                  <c:pt idx="19">
                    <c:v>ラベル 20</c:v>
                  </c:pt>
                  <c:pt idx="20">
                    <c:v>ラベル 21</c:v>
                  </c:pt>
                  <c:pt idx="21">
                    <c:v>ラベル 22</c:v>
                  </c:pt>
                  <c:pt idx="22">
                    <c:v>ラベル 23</c:v>
                  </c:pt>
                  <c:pt idx="23">
                    <c:v>ラベル 24</c:v>
                  </c:pt>
                  <c:pt idx="24">
                    <c:v>ラベル 25</c:v>
                  </c:pt>
                  <c:pt idx="25">
                    <c:v>ラベル 26</c:v>
                  </c:pt>
                  <c:pt idx="26">
                    <c:v>ラベル 27</c:v>
                  </c:pt>
                  <c:pt idx="27">
                    <c:v>ラベル 28</c:v>
                  </c:pt>
                  <c:pt idx="28">
                    <c:v>ラベル 29</c:v>
                  </c:pt>
                  <c:pt idx="29">
                    <c:v>ラベル 30</c:v>
                  </c:pt>
                  <c:pt idx="30">
                    <c:v>ラベル 31</c:v>
                  </c:pt>
                  <c:pt idx="31">
                    <c:v>ラベル 32</c:v>
                  </c:pt>
                  <c:pt idx="32">
                    <c:v>ラベル 33</c:v>
                  </c:pt>
                  <c:pt idx="33">
                    <c:v>ラベル 34</c:v>
                  </c:pt>
                  <c:pt idx="34">
                    <c:v>ラベル 35</c:v>
                  </c:pt>
                  <c:pt idx="35">
                    <c:v>ラベル 36</c:v>
                  </c:pt>
                  <c:pt idx="36">
                    <c:v>ラベル 37</c:v>
                  </c:pt>
                  <c:pt idx="37">
                    <c:v>ラベル 38</c:v>
                  </c:pt>
                  <c:pt idx="38">
                    <c:v>ラベル 39</c:v>
                  </c:pt>
                  <c:pt idx="39">
                    <c:v>ラベル 40</c:v>
                  </c:pt>
                  <c:pt idx="40">
                    <c:v>ラベル 41</c:v>
                  </c:pt>
                  <c:pt idx="41">
                    <c:v>ラベル 42</c:v>
                  </c:pt>
                  <c:pt idx="42">
                    <c:v>ラベル 43</c:v>
                  </c:pt>
                  <c:pt idx="43">
                    <c:v>ラベル 44</c:v>
                  </c:pt>
                  <c:pt idx="44">
                    <c:v>ラベル 45</c:v>
                  </c:pt>
                  <c:pt idx="45">
                    <c:v>ラベル 46</c:v>
                  </c:pt>
                  <c:pt idx="46">
                    <c:v>ラベル 47</c:v>
                  </c:pt>
                  <c:pt idx="47">
                    <c:v>ラベル 48</c:v>
                  </c:pt>
                  <c:pt idx="48">
                    <c:v>ラベル 49</c:v>
                  </c:pt>
                  <c:pt idx="49">
                    <c:v>ラベル 50</c:v>
                  </c:pt>
                </c:lvl>
              </c:multiLvlStrCache>
            </c:multiLvl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240</c:v>
                </c:pt>
                <c:pt idx="1">
                  <c:v>224</c:v>
                </c:pt>
                <c:pt idx="2">
                  <c:v>210</c:v>
                </c:pt>
                <c:pt idx="3">
                  <c:v>192</c:v>
                </c:pt>
                <c:pt idx="4">
                  <c:v>180</c:v>
                </c:pt>
                <c:pt idx="5">
                  <c:v>154</c:v>
                </c:pt>
                <c:pt idx="6">
                  <c:v>140</c:v>
                </c:pt>
                <c:pt idx="7">
                  <c:v>130</c:v>
                </c:pt>
                <c:pt idx="8">
                  <c:v>118</c:v>
                </c:pt>
                <c:pt idx="9">
                  <c:v>110</c:v>
                </c:pt>
                <c:pt idx="10">
                  <c:v>100</c:v>
                </c:pt>
                <c:pt idx="11">
                  <c:v>92</c:v>
                </c:pt>
                <c:pt idx="12">
                  <c:v>86</c:v>
                </c:pt>
                <c:pt idx="13">
                  <c:v>80</c:v>
                </c:pt>
                <c:pt idx="14">
                  <c:v>74</c:v>
                </c:pt>
                <c:pt idx="15">
                  <c:v>70</c:v>
                </c:pt>
                <c:pt idx="16">
                  <c:v>64</c:v>
                </c:pt>
                <c:pt idx="17">
                  <c:v>60</c:v>
                </c:pt>
                <c:pt idx="18">
                  <c:v>56</c:v>
                </c:pt>
                <c:pt idx="19">
                  <c:v>52</c:v>
                </c:pt>
                <c:pt idx="20">
                  <c:v>48</c:v>
                </c:pt>
                <c:pt idx="21">
                  <c:v>45</c:v>
                </c:pt>
                <c:pt idx="22">
                  <c:v>42</c:v>
                </c:pt>
                <c:pt idx="23">
                  <c:v>39</c:v>
                </c:pt>
                <c:pt idx="24">
                  <c:v>36</c:v>
                </c:pt>
                <c:pt idx="25">
                  <c:v>33</c:v>
                </c:pt>
                <c:pt idx="26">
                  <c:v>31</c:v>
                </c:pt>
                <c:pt idx="27">
                  <c:v>29</c:v>
                </c:pt>
                <c:pt idx="28">
                  <c:v>27</c:v>
                </c:pt>
                <c:pt idx="29">
                  <c:v>25</c:v>
                </c:pt>
                <c:pt idx="30">
                  <c:v>23</c:v>
                </c:pt>
                <c:pt idx="31">
                  <c:v>21</c:v>
                </c:pt>
                <c:pt idx="32">
                  <c:v>20</c:v>
                </c:pt>
                <c:pt idx="33">
                  <c:v>18</c:v>
                </c:pt>
                <c:pt idx="34">
                  <c:v>17</c:v>
                </c:pt>
                <c:pt idx="35">
                  <c:v>15</c:v>
                </c:pt>
                <c:pt idx="36">
                  <c:v>14</c:v>
                </c:pt>
                <c:pt idx="37">
                  <c:v>13</c:v>
                </c:pt>
                <c:pt idx="38">
                  <c:v>12</c:v>
                </c:pt>
                <c:pt idx="39">
                  <c:v>11</c:v>
                </c:pt>
                <c:pt idx="40">
                  <c:v>10</c:v>
                </c:pt>
                <c:pt idx="41">
                  <c:v>9</c:v>
                </c:pt>
                <c:pt idx="42">
                  <c:v>8</c:v>
                </c:pt>
                <c:pt idx="43">
                  <c:v>8</c:v>
                </c:pt>
                <c:pt idx="44">
                  <c:v>7</c:v>
                </c:pt>
                <c:pt idx="45">
                  <c:v>6</c:v>
                </c:pt>
                <c:pt idx="46">
                  <c:v>6</c:v>
                </c:pt>
                <c:pt idx="47">
                  <c:v>5</c:v>
                </c:pt>
                <c:pt idx="48">
                  <c:v>5</c:v>
                </c:pt>
                <c:pt idx="4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22014"/>
                  </a:solidFill>
                  <a:latin typeface="Yu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19050" cap="flat">
            <a:solidFill>
              <a:srgbClr val="32201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22014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1804163723104564"/>
          <c:y val="0.03496349552078774"/>
          <c:w val="0.9476700070645491"/>
          <c:h val="0.9067640119445659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322014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322014"/>
              </a:solidFill>
              <a:ln w="9525" cap="flat">
                <a:solidFill>
                  <a:srgbClr val="32201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de0-50b2-6a75-783b5cfd5b6c}"/>
                </c:ext>
              </c:extLst>
            </c:dLbl>
            <c:dLbl>
              <c:idx val="1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de0-50b2-6a75-783b5cfd5b6c}"/>
                </c:ext>
              </c:extLst>
            </c:dLbl>
            <c:dLbl>
              <c:idx val="2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7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de0-50b2-6a75-783b5cfd5b6c}"/>
                </c:ext>
              </c:extLst>
            </c:dLbl>
            <c:dLbl>
              <c:idx val="3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de0-50b2-6a75-783b5cfd5b6c}"/>
                </c:ext>
              </c:extLst>
            </c:dLbl>
            <c:dLbl>
              <c:idx val="4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9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de0-50b2-6a75-783b5cfd5b6c}"/>
                </c:ext>
              </c:extLst>
            </c:dLbl>
            <c:dLbl>
              <c:idx val="5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10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de0-50b2-6a75-783b5cfd5b6c}"/>
                </c:ext>
              </c:extLst>
            </c:dLbl>
            <c:dLbl>
              <c:idx val="6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11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de0-50b2-6a75-783b5cfd5b6c}"/>
                </c:ext>
              </c:extLst>
            </c:dLbl>
            <c:dLbl>
              <c:idx val="7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ラベル 12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de0-50b2-6a75-783b5cfd5b6c}"/>
                </c:ext>
              </c:extLst>
            </c:dLbl>
          </c:dLbls>
          <c:xVal>
            <c:numRef>
              <c:f>Sheet1!$A$2:$A$9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32</c:v>
                </c:pt>
                <c:pt idx="3">
                  <c:v>41</c:v>
                </c:pt>
                <c:pt idx="4">
                  <c:v>56</c:v>
                </c:pt>
                <c:pt idx="5">
                  <c:v>65</c:v>
                </c:pt>
                <c:pt idx="6">
                  <c:v>78</c:v>
                </c:pt>
                <c:pt idx="7">
                  <c:v>90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17</c:v>
                </c:pt>
                <c:pt idx="1">
                  <c:v>29</c:v>
                </c:pt>
                <c:pt idx="2">
                  <c:v>24</c:v>
                </c:pt>
                <c:pt idx="3">
                  <c:v>41</c:v>
                </c:pt>
                <c:pt idx="4">
                  <c:v>52</c:v>
                </c:pt>
                <c:pt idx="5">
                  <c:v>62</c:v>
                </c:pt>
                <c:pt idx="6">
                  <c:v>71</c:v>
                </c:pt>
                <c:pt idx="7">
                  <c:v>83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r"/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0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16:9 | 62 Archetypes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221200"/>
            <a:ext cx="792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76072" y="3049200"/>
            <a:ext cx="1152000" cy="3600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76072" y="3337200"/>
            <a:ext cx="792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Idea book for selecting archetypes. The primary design standard is slide-rules.md.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3877200"/>
            <a:ext cx="648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titles show archetype names; sample takeaway claims are omitted. In production decks, always replace them with assertion statements derived from your storyline (slide-rules §2.8). The bottom-right tags "PPTX" and "PPTX / HTML" indicate output paths: all archetypes can be exported to editable PPTX via SlideSpec, and component-derived archetypes can also be built in freeform HTML.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Catalog Index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1" name="TextBox 10"/>
          <p:cNvSpPr txBox="1"/>
          <p:nvPr/>
        </p:nvSpPr>
        <p:spPr>
          <a:xfrm>
            <a:off x="576072" y="914400"/>
            <a:ext cx="11036808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22014"/>
                </a:solidFill>
                <a:latin typeface="Yu Mincho"/>
              </a:rPr>
              <a:t>Included Archetypes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76072" y="1572768"/>
          <a:ext cx="3508248" cy="4032504"/>
        </p:xfrm>
        <a:graphic>
          <a:graphicData uri="http://schemas.openxmlformats.org/drawingml/2006/table">
            <a:tbl>
              <a:tblPr firstRow="0" bandRow="0"/>
              <a:tblGrid>
                <a:gridCol w="256032"/>
                <a:gridCol w="1926336"/>
                <a:gridCol w="868680"/>
                <a:gridCol w="457200"/>
              </a:tblGrid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Title Page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Overview Map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Table of Contents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Section Divider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Agenda Tracker (Section Divider)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Executive Summary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Research Foundation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Research &amp; Methodology Foundation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A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Back Cover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Single Chart + Strategic Implications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P.14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Stacked Bar Breakdown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Contribution Bridge / Waterfall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Full Variance Bridge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Small Multiples Comparison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Scenario Trajectories + CAGR Chips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P.19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Variance Bars + Totals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Proportional Circle Comparison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Ranked Bar Distribution + Callouts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Annotated Scatter Plot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P.23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Big Stat Comparison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P.24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KPI Dashboard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340352" y="1572768"/>
          <a:ext cx="3508248" cy="4032504"/>
        </p:xfrm>
        <a:graphic>
          <a:graphicData uri="http://schemas.openxmlformats.org/drawingml/2006/table">
            <a:tbl>
              <a:tblPr firstRow="0" bandRow="0"/>
              <a:tblGrid>
                <a:gridCol w="256032"/>
                <a:gridCol w="1926336"/>
                <a:gridCol w="868680"/>
                <a:gridCol w="457200"/>
              </a:tblGrid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B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Large Metric Table + Readout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Multi-Option Evaluation Matrix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Scenario Comparison Table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P.29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Risk Assessment &amp; Mitigation Matrix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Horizontal Axis Evaluation Table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Heatmap Matrix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2×2 Strategic Matrix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P.33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Table with Structured Axes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P.34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Harvey Ball Evaluation Matrix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Status Heatmap + Right Commentary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Strategic Levers &amp; Impact Table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Progress Bubble Matrix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C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Dot Matrix Distribution / Share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P.39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Key Claim Panel + Visual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Process × Perspective Matrix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Nested Row Hierarchy Matrix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P.43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Timeline Matrix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P.44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Issue Tree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Situation, Complication, Resolution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Issue-to-Solution Mapping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Issues vs. Actions 2-Column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104632" y="1572768"/>
          <a:ext cx="3508248" cy="4032504"/>
        </p:xfrm>
        <a:graphic>
          <a:graphicData uri="http://schemas.openxmlformats.org/drawingml/2006/table">
            <a:tbl>
              <a:tblPr firstRow="0" bandRow="0"/>
              <a:tblGrid>
                <a:gridCol w="256032"/>
                <a:gridCol w="1926336"/>
                <a:gridCol w="868680"/>
                <a:gridCol w="457200"/>
              </a:tblGrid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Issue -&gt; Root Cause -&gt; Solution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P.49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Current vs. Target State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Calculation Logic Flow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Strategic Pillars &amp; Foundation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Opposing Chevrons (Dual Forces)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P.53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Process Flow Stages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Closed-Loop Cycle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Chevron Rail Stages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Chevron Process / Progression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Value Chain Chevrons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P.59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Decision Fork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Premise -&gt; Conclusion 2-Column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P.61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Implementation Roadmap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P.62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Gantt Chart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P.63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Theme Card Grid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P.65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Recommendation Pillars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P.66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Numbered Strategic Imperatives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P.67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2×2 Card Grid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P.68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External Evidence / Market Trends Grid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 / HTML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P.69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2DCD2"/>
                      </a:solidFill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>F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>Executive Decision Page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PPTX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>P.70</a:t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5A3921"/>
                          </a:solidFill>
                          <a:latin typeface="Yu Mincho"/>
                        </a:rPr>
                        <a:t/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322014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20" b="0">
                          <a:solidFill>
                            <a:srgbClr val="8A7B6B"/>
                          </a:solidFill>
                          <a:latin typeface="Yu Gothic"/>
                        </a:rPr>
                        <a:t/>
                      </a:r>
                    </a:p>
                  </a:txBody>
                  <a:tcPr marL="18288" marR="18288" marT="0" marB="0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Framework &amp; Structure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Structuring document foundations (cover, overview, TOC, divider, methodology, back cover)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01 | Title Page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221200"/>
            <a:ext cx="79200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76072" y="3049200"/>
            <a:ext cx="1152000" cy="36000"/>
          </a:xfrm>
          <a:prstGeom prst="rect">
            <a:avLst/>
          </a:prstGeom>
          <a:solidFill>
            <a:srgbClr val="5A3921"/>
          </a:solidFill>
          <a:ln w="1270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76072" y="3337200"/>
            <a:ext cx="792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1: Categorization based on Text 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750" dirty="0"/>
          </a:p>
        </p:txBody>
      </p:sp>
      <p:sp>
        <p:nvSpPr>
          <p:cNvPr id="12" name="TextBox 1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02 | Overview 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Overview 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158400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76072" y="1572768"/>
            <a:ext cx="8416591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92663" y="1572768"/>
            <a:ext cx="82296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P.3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6072" y="2722626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" y="2722626"/>
            <a:ext cx="158400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6072" y="2722626"/>
            <a:ext cx="8416591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792663" y="2722626"/>
            <a:ext cx="82296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P.4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6072" y="3872484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6072" y="3872484"/>
            <a:ext cx="158400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6072" y="3872484"/>
            <a:ext cx="8416591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792663" y="3872484"/>
            <a:ext cx="82296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P.5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6072" y="5022342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6072" y="5022342"/>
            <a:ext cx="158400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76072" y="5022342"/>
            <a:ext cx="8416591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792663" y="5022342"/>
            <a:ext cx="822960" cy="114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P.6</a:t>
            </a:r>
            <a:endParaRPr lang="en-US" sz="800" dirty="0"/>
          </a:p>
        </p:txBody>
      </p:sp>
      <p:sp>
        <p:nvSpPr>
          <p:cNvPr id="25" name="TextBox 24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03 | Table of Contents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716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224072" y="1716768"/>
            <a:ext cx="9743551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111623" y="1716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" y="2508768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" y="2508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24072" y="2508768"/>
            <a:ext cx="9743551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111623" y="2508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" y="3300768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6072" y="3300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224072" y="3300768"/>
            <a:ext cx="9743551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111623" y="3300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" y="4092768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6072" y="4092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24072" y="4092768"/>
            <a:ext cx="9743551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111623" y="4092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072" y="4884768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76072" y="4884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224072" y="4884768"/>
            <a:ext cx="9743551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111623" y="4884768"/>
            <a:ext cx="504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P.15</a:t>
            </a:r>
            <a:endParaRPr lang="en-US" sz="900" dirty="0"/>
          </a:p>
        </p:txBody>
      </p:sp>
      <p:sp>
        <p:nvSpPr>
          <p:cNvPr id="29" name="TextBox 28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04 | Section Divider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750" dirty="0"/>
          </a:p>
        </p:txBody>
      </p:sp>
      <p:sp>
        <p:nvSpPr>
          <p:cNvPr id="11" name="TextBox 1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27 | Agenda Tracker (Section Divider)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Agenda Tracker (Section Divider)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535084"/>
            <a:ext cx="504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60072" y="2535084"/>
            <a:ext cx="9599551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039623" y="2535084"/>
            <a:ext cx="576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" y="3190284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" y="3190284"/>
            <a:ext cx="504000" cy="70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60072" y="3190284"/>
            <a:ext cx="9599551" cy="70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039623" y="3190284"/>
            <a:ext cx="576000" cy="70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" y="3899484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6072" y="3899484"/>
            <a:ext cx="504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60072" y="3899484"/>
            <a:ext cx="9599551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039623" y="3899484"/>
            <a:ext cx="576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" y="4554684"/>
            <a:ext cx="11039551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6072" y="4554684"/>
            <a:ext cx="504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60072" y="4554684"/>
            <a:ext cx="9599551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B6B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039623" y="4554684"/>
            <a:ext cx="576000" cy="65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P.21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EXECUTIVE_SUMMARY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3400997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76072" y="3995357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3400997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89120" y="3995357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02168" y="3400997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4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02168" y="3995357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500" dirty="0"/>
          </a:p>
        </p:txBody>
      </p:sp>
      <p:sp>
        <p:nvSpPr>
          <p:cNvPr id="16" name="TextBox 1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EVIDENCE_BASIS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Research Foundation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363724"/>
            <a:ext cx="338328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Metric Name, Unit, YYYY-YYYY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363724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73952" y="2436876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99432" y="3003804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99432" y="3150108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2.4M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73952" y="3223260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99432" y="3790188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9432" y="3936492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640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73952" y="4009644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99432" y="4576572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99432" y="4722876"/>
            <a:ext cx="1737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73952" y="4796028"/>
            <a:ext cx="5141671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9432" y="5362956"/>
            <a:ext cx="7016191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3" name="TextBox 2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25 | Research &amp; Methodology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Research &amp; Methodology Foundation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 (Survey period: MM/YYYY - MM/YYYY)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44219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883664"/>
            <a:ext cx="4421937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6072" y="2011680"/>
            <a:ext cx="4421937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142009" y="3764484"/>
            <a:ext cx="360000" cy="216000"/>
          </a:xfrm>
          <a:prstGeom prst="triangle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46009" y="1572768"/>
            <a:ext cx="596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Target Scope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46009" y="1883664"/>
            <a:ext cx="5969615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736009" y="2011680"/>
            <a:ext cx="144000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 Co.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66009" y="2011680"/>
            <a:ext cx="425961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46009" y="3398520"/>
            <a:ext cx="5969615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736009" y="3398520"/>
            <a:ext cx="144000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 Cases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266009" y="3398520"/>
            <a:ext cx="425961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46009" y="4785360"/>
            <a:ext cx="5969615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36009" y="4785360"/>
            <a:ext cx="144000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Months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66009" y="4785360"/>
            <a:ext cx="425961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10 | Back Cover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3013200"/>
            <a:ext cx="79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Company Name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3481200"/>
            <a:ext cx="7920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Contact Information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750" dirty="0"/>
          </a:p>
        </p:txBody>
      </p:sp>
      <p:sp>
        <p:nvSpPr>
          <p:cNvPr id="11" name="TextBox 1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Evidence in Numbers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Substantiating claims with one visual per slide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CHART_INSIGHT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Single Chart + Strategic Implications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  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1264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Metric Name, Unit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99032" y="4442723"/>
            <a:ext cx="566928" cy="1135117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53312" y="4214123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50592" y="4123471"/>
            <a:ext cx="566928" cy="1454369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04872" y="3894871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2199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02152" y="3839692"/>
            <a:ext cx="566928" cy="1738148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56432" y="3611092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7355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53712" y="3520440"/>
            <a:ext cx="566928" cy="20574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07992" y="3291840"/>
            <a:ext cx="65836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25112" y="5669280"/>
            <a:ext cx="10241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072" y="5577840"/>
            <a:ext cx="5760720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858000" y="2057400"/>
            <a:ext cx="0" cy="141732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059168" y="2057400"/>
            <a:ext cx="418795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9168" y="2560320"/>
            <a:ext cx="4187952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STACKED_BAR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Stacked Bar Breakdown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Metric Name, Unit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04517" y="4642175"/>
            <a:ext cx="1188720" cy="935665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004517" y="5000279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04517" y="3940426"/>
            <a:ext cx="1188720" cy="701749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004517" y="418157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04517" y="3472593"/>
            <a:ext cx="1188720" cy="467833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004517" y="359678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1637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01488" y="4291300"/>
            <a:ext cx="1188720" cy="128654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501488" y="482484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01488" y="3542768"/>
            <a:ext cx="1188720" cy="748532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501488" y="3807306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01488" y="3028153"/>
            <a:ext cx="1188720" cy="514616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501488" y="317573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18608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98458" y="3893643"/>
            <a:ext cx="1188720" cy="1684197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998458" y="4626013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98458" y="3121719"/>
            <a:ext cx="1188720" cy="771924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998458" y="3397953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98458" y="2560320"/>
            <a:ext cx="1188720" cy="561399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998458" y="273129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15578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" y="5943600"/>
            <a:ext cx="201168" cy="201168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686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04872" y="5943600"/>
            <a:ext cx="201168" cy="201168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6974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33672" y="5943600"/>
            <a:ext cx="201168" cy="201168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26280" y="5943600"/>
            <a:ext cx="14630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100" dirty="0"/>
          </a:p>
        </p:txBody>
      </p:sp>
      <p:sp>
        <p:nvSpPr>
          <p:cNvPr id="38" name="TextBox 3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WATERFALL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Contribution Bridge / Waterfall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  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035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Metric Name, Unit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4108269"/>
            <a:ext cx="603504" cy="1469571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870525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828800" y="5313317"/>
            <a:ext cx="603504" cy="264523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755648" y="5075573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64208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852928" y="5225143"/>
            <a:ext cx="603504" cy="352697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79776" y="4987399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88336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77056" y="5445579"/>
            <a:ext cx="603504" cy="132261"/>
          </a:xfrm>
          <a:prstGeom prst="rect">
            <a:avLst/>
          </a:prstGeom>
          <a:solidFill>
            <a:srgbClr val="A2272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803904" y="5207835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12464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901184" y="5474970"/>
            <a:ext cx="603504" cy="10287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28032" y="5237226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5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925312" y="3520440"/>
            <a:ext cx="603504" cy="205740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852160" y="3282696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5669280"/>
            <a:ext cx="9601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6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76072" y="5577840"/>
            <a:ext cx="5852160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858000" y="1965960"/>
            <a:ext cx="0" cy="132588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059168" y="1965960"/>
            <a:ext cx="409651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59168" y="2468880"/>
            <a:ext cx="409651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TRUE_WATERFALL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Full Variance Bridge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Metric Name, Unit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96563" y="3364992"/>
            <a:ext cx="1005840" cy="2212848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13683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2243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94745" y="3364992"/>
            <a:ext cx="1005840" cy="603504"/>
          </a:xfrm>
          <a:prstGeom prst="rect">
            <a:avLst/>
          </a:prstGeom>
          <a:solidFill>
            <a:srgbClr val="A2272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11865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20425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92928" y="3163824"/>
            <a:ext cx="1005840" cy="804672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10048" y="2907792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18608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91110" y="2560320"/>
            <a:ext cx="1005840" cy="603504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508230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16790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789292" y="2560320"/>
            <a:ext cx="1005840" cy="301752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606412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14972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" y="5577840"/>
            <a:ext cx="11039551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7" name="TextBox 26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SMALL_MULTIPLES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Small Multiples Comparison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11680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" y="2322576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229335" y="3226728"/>
            <a:ext cx="457200" cy="398868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6072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93060" y="2927578"/>
            <a:ext cx="457200" cy="698018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339797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6785" y="2468880"/>
            <a:ext cx="457200" cy="1156716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03522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24448" y="2011680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4448" y="2322576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977710" y="3326445"/>
            <a:ext cx="457200" cy="299151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24448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41435" y="3067181"/>
            <a:ext cx="457200" cy="558415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088173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505161" y="2748087"/>
            <a:ext cx="457200" cy="877509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851898" y="3643884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" y="4338828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" y="4649724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229335" y="5793197"/>
            <a:ext cx="457200" cy="159547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76072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93060" y="5673537"/>
            <a:ext cx="457200" cy="279207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339797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6785" y="5494046"/>
            <a:ext cx="457200" cy="458698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103522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24448" y="4338828"/>
            <a:ext cx="52911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24448" y="4649724"/>
            <a:ext cx="52911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977710" y="5713423"/>
            <a:ext cx="457200" cy="239321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324448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741435" y="5513990"/>
            <a:ext cx="457200" cy="438754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088173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505161" y="5214839"/>
            <a:ext cx="457200" cy="737905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851898" y="5971032"/>
            <a:ext cx="1763725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16</a:t>
            </a:r>
            <a:endParaRPr lang="en-US" sz="900" dirty="0"/>
          </a:p>
        </p:txBody>
      </p:sp>
      <p:sp>
        <p:nvSpPr>
          <p:cNvPr id="42" name="TextBox 4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24 | Scenario Trajectories + CAGR Chips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Scenario Trajectories + CAGR Chips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Metric Name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421063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Unit, YYYY-YYYY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76072" y="2233602"/>
          <a:ext cx="8877361" cy="352374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8763183" y="2574447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63183" y="2999045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763183" y="3352877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21021" y="2079719"/>
            <a:ext cx="17752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CAGR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021021" y="2543003"/>
            <a:ext cx="1226617" cy="31892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021021" y="2543003"/>
            <a:ext cx="1226617" cy="31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021021" y="2967601"/>
            <a:ext cx="1226617" cy="31892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021021" y="2967601"/>
            <a:ext cx="1226617" cy="31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21021" y="3359673"/>
            <a:ext cx="1226617" cy="318920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021021" y="3359673"/>
            <a:ext cx="1226617" cy="31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105503" y="6008760"/>
            <a:ext cx="144000" cy="14400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8303503" y="5989320"/>
            <a:ext cx="89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 Text 3 accelerates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9418663" y="6008760"/>
            <a:ext cx="144000" cy="1440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9616663" y="5989320"/>
            <a:ext cx="57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 Trajectory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0411783" y="6008760"/>
            <a:ext cx="144000" cy="144000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0609783" y="5989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 Text 4 is delayed</a:t>
            </a:r>
            <a:endParaRPr lang="en-US" sz="800" dirty="0"/>
          </a:p>
        </p:txBody>
      </p:sp>
      <p:sp>
        <p:nvSpPr>
          <p:cNvPr id="30" name="TextBox 29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23 | Variance Bars + Totals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Variance Bars + Totals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Metric Name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421063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Unit, YYYY-YYYY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1395" y="2631696"/>
            <a:ext cx="18399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+200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1395" y="3152904"/>
            <a:ext cx="18399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Increase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1395" y="4348960"/>
            <a:ext cx="18399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−185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1395" y="4870168"/>
            <a:ext cx="18399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Decrease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83982" y="2325042"/>
          <a:ext cx="8831641" cy="343452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10165423" y="6008760"/>
            <a:ext cx="144000" cy="1440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363423" y="5989320"/>
            <a:ext cx="47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Increase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1051863" y="6008760"/>
            <a:ext cx="144000" cy="14400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249863" y="5989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Decrease</a:t>
            </a:r>
            <a:endParaRPr lang="en-US" sz="800" dirty="0"/>
          </a:p>
        </p:txBody>
      </p:sp>
      <p:sp>
        <p:nvSpPr>
          <p:cNvPr id="22" name="TextBox 2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22 | Proportional Circle Comparison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Proportional Circle Comparison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1. Circle area is proportional to share.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Share of Text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421063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%, YYYY / YYYY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36476" y="2261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 (YYYY)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93336" y="2629144"/>
            <a:ext cx="2943880" cy="2943880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293336" y="3661981"/>
            <a:ext cx="29438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65%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2293336" y="4330636"/>
            <a:ext cx="29438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5A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 of Text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97620" y="226115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Years Later (YYYY)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26433" y="3101098"/>
            <a:ext cx="1999973" cy="1999973"/>
          </a:xfrm>
          <a:prstGeom prst="ellipse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426433" y="3792474"/>
            <a:ext cx="1999973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30%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26433" y="4238244"/>
            <a:ext cx="19999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EFEE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 of Text 3</a:t>
            </a:r>
            <a:endParaRPr lang="en-US" sz="900" dirty="0"/>
          </a:p>
        </p:txBody>
      </p:sp>
      <p:sp>
        <p:nvSpPr>
          <p:cNvPr id="21" name="TextBox 2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17 | Ranked Bar Distribution + Callouts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Ranked Bar Distribution + Callouts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63948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Metric Name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639480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76313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Unit, YYYY-YYYY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76072" y="2029968"/>
          <a:ext cx="6394801" cy="38873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76072" y="6008760"/>
            <a:ext cx="144000" cy="1440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74072" y="5989320"/>
            <a:ext cx="4191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Top N Companies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409172" y="6008760"/>
            <a:ext cx="144000" cy="144000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607172" y="5989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Others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 rot="5400000">
            <a:off x="7114873" y="3764484"/>
            <a:ext cx="360000" cy="216000"/>
          </a:xfrm>
          <a:prstGeom prst="triangle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618873" y="1572768"/>
            <a:ext cx="3996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Therefore, Focus on Text 4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618873" y="1901952"/>
            <a:ext cx="399675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618873" y="2029968"/>
            <a:ext cx="3996750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18 | Annotated Scatter Plot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Annotated Scatter Plot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Relationship between Text 1 and Text 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421063" y="1627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Unit, YYYY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1206104" y="2062668"/>
          <a:ext cx="10484236" cy="392294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1434704" y="5757017"/>
            <a:ext cx="9935596" cy="0"/>
          </a:xfrm>
          <a:prstGeom prst="line">
            <a:avLst/>
          </a:prstGeom>
          <a:noFill/>
          <a:ln w="1905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434704" y="2199828"/>
            <a:ext cx="0" cy="3557189"/>
          </a:xfrm>
          <a:prstGeom prst="line">
            <a:avLst/>
          </a:prstGeom>
          <a:noFill/>
          <a:ln w="1905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104434" y="2199828"/>
            <a:ext cx="0" cy="3557189"/>
          </a:xfrm>
          <a:prstGeom prst="line">
            <a:avLst/>
          </a:prstGeom>
          <a:noFill/>
          <a:ln w="13970">
            <a:solidFill>
              <a:srgbClr val="C5A681"/>
            </a:solidFill>
            <a:prstDash val="dash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95874" y="22546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Average (Label 4)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562720" y="227663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High Text 13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562720" y="5427833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Low Text 14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4684" y="5427833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High Text 15 →</a:t>
            </a:r>
            <a:endParaRPr 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BIG_STAT_PAIR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Big Stat Comparison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178272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Metric Name, Unit, YYYY-YYYY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" y="2946368"/>
            <a:ext cx="515401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76072" y="4500848"/>
            <a:ext cx="5154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" y="5278088"/>
            <a:ext cx="515401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61608" y="2946368"/>
            <a:ext cx="515401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461608" y="4500848"/>
            <a:ext cx="5154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61608" y="5278088"/>
            <a:ext cx="515401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</a:t>
            </a:r>
            <a:endParaRPr lang="en-US" sz="1150" dirty="0"/>
          </a:p>
        </p:txBody>
      </p:sp>
      <p:sp>
        <p:nvSpPr>
          <p:cNvPr id="17" name="TextBox 16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KPI_DASHBOARD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KPI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978087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6072" y="3124391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3435287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-18%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76072" y="4166807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" y="4486846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7400" y="2978087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427400" y="3124391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7400" y="3435287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days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27400" y="4166807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7400" y="4486846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28" y="2978087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78728" y="3124391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8728" y="3435287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278728" y="4166807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78728" y="4486846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30055" y="2978087"/>
            <a:ext cx="2485568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130055" y="3124391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30055" y="3435287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$6M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130055" y="4166807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30055" y="4486846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</a:t>
            </a:r>
            <a:endParaRPr 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07 | Large Metric Table + Readout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Large Metric Table + Readout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6234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Current Status of Text 1 by Numbers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623493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6234931" cy="914400"/>
        </p:xfrm>
        <a:graphic>
          <a:graphicData uri="http://schemas.openxmlformats.org/drawingml/2006/table">
            <a:tbl>
              <a:tblPr/>
              <a:tblGrid>
                <a:gridCol w="1584000"/>
                <a:gridCol w="1224000"/>
                <a:gridCol w="3426931"/>
              </a:tblGrid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2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3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4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6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7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 rot="5400000">
            <a:off x="6955003" y="3764484"/>
            <a:ext cx="360000" cy="216000"/>
          </a:xfrm>
          <a:prstGeom prst="triangle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459003" y="1572768"/>
            <a:ext cx="41566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Key Takeaway / Readout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59003" y="1901952"/>
            <a:ext cx="415662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459003" y="2029968"/>
            <a:ext cx="4156620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Comparison &amp; Evaluation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Comparing options or subjects along structured axes to highlight strengths and trade-offs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COMPARISON_TABLE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Multi-Option Evaluation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7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3950208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45079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Evaluation Axis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Our Co.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Competitor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Implications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SCENARIO_TABLE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Scenario Comparison Table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  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7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3950208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3931920"/>
                <a:gridCol w="38679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Scenario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Outcome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Assumptions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Strategic Implications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Assumption 1-1: Set Text as Text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Assumption 1-2: Assume Text remains constant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Increase Text 1 up to Text 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Accelerate Text 3 decision to Month 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Assumption 2-1: Set Text as Text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Assumption 2-2: Assume Text remains constant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Increase Text 4 up to Text 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Accelerate Text 6 decision to Month 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A392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Assumption 3-1: Set Text as Text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Assumption 3-2: Assume Text remains constant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Increase Text 7 up to Text 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Accelerate Text 9 decision to Month 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 RISK_TABLE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Risk Assessment &amp; Mitigation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7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11091672" cy="3950208"/>
        </p:xfrm>
        <a:graphic>
          <a:graphicData uri="http://schemas.openxmlformats.org/drawingml/2006/table">
            <a:tbl>
              <a:tblPr/>
              <a:tblGrid>
                <a:gridCol w="2834640"/>
                <a:gridCol w="2560320"/>
                <a:gridCol w="4572000"/>
                <a:gridCol w="11247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Risk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Early Indicator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Mitigation Measure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Owner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 falls below 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 of Text 2 continues for N months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Secure Text 3 upfront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Prepare contingency plan for 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 falls below 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 of Text 6 continues for N months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Secure Text 7 upfront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Prepare contingency plan for Text 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9 falls below 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 of Text 10 continues for N months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Secure Text 11 upfront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Prepare contingency plan for Text 12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0" marR="76200" marT="63500" marB="1143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 HORIZONTAL_AXIS_TABLE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Horizontal Axis Evaluation Table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75688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Shaded row = Text 1 (One-line rationale for highlighting this row)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404872"/>
            <a:ext cx="11039551" cy="0"/>
          </a:xfrm>
          <a:prstGeom prst="line">
            <a:avLst/>
          </a:prstGeom>
          <a:noFill/>
          <a:ln w="7620">
            <a:solidFill>
              <a:srgbClr val="8A7B6B"/>
            </a:solidFill>
            <a:prstDash val="sysDot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6072" y="2578608"/>
            <a:ext cx="13048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" y="2926080"/>
            <a:ext cx="1304814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063766" y="2578608"/>
            <a:ext cx="274011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63766" y="2926080"/>
            <a:ext cx="2740110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86756" y="2578608"/>
            <a:ext cx="300107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6756" y="2926080"/>
            <a:ext cx="3001072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70708" y="2578608"/>
            <a:ext cx="1565777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70708" y="2926080"/>
            <a:ext cx="1565777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919365" y="2578608"/>
            <a:ext cx="169625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19365" y="2926080"/>
            <a:ext cx="1696258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30352" y="3044952"/>
            <a:ext cx="11130991" cy="832104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6072" y="311810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63766" y="311810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6756" y="311810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70708" y="311810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19365" y="311810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" y="391363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76072" y="398678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63766" y="398678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6756" y="398678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70708" y="398678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19365" y="398678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" y="47823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76072" y="4855464"/>
            <a:ext cx="130481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63766" y="4855464"/>
            <a:ext cx="274011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6756" y="4855464"/>
            <a:ext cx="3001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70708" y="4855464"/>
            <a:ext cx="1565777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919365" y="4855464"/>
            <a:ext cx="16962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76072" y="565099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  <p:txBody>
          <a:bodyPr/>
          <a:p/>
        </p:txBody>
      </p:sp>
      <p:sp>
        <p:nvSpPr>
          <p:cNvPr id="41" name="TextBox 4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 HEATMAP_TABLE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Heatmap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Row Axis Name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53512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53512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19040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19040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84568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84568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50095" y="2011680"/>
            <a:ext cx="209237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50095" y="2340864"/>
            <a:ext cx="20923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76072" y="266090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Row Header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53512" y="251460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953512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High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19040" y="251460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119040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84568" y="251460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284568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Low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50095" y="251460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450095" y="251460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6072" y="339242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Row Header 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53512" y="324612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953512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19040" y="324612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119040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Low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84568" y="3246120"/>
            <a:ext cx="2092376" cy="658368"/>
          </a:xfrm>
          <a:prstGeom prst="rect">
            <a:avLst/>
          </a:prstGeom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284568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None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450095" y="324612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450095" y="324612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Low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76072" y="412394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Row Header 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953512" y="397764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953512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High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119040" y="397764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119040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High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284568" y="397764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284568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450095" y="3977640"/>
            <a:ext cx="2092376" cy="658368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9450095" y="397764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High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76072" y="4855464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Row Header 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953512" y="4709160"/>
            <a:ext cx="2092376" cy="658368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953512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119040" y="470916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119040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Low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284568" y="4709160"/>
            <a:ext cx="2092376" cy="658368"/>
          </a:xfrm>
          <a:prstGeom prst="rect">
            <a:avLst/>
          </a:prstGeom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284568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None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450095" y="4709160"/>
            <a:ext cx="2092376" cy="6583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9450095" y="4709160"/>
            <a:ext cx="209237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Low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76072" y="5577840"/>
            <a:ext cx="201168" cy="201168"/>
          </a:xfrm>
          <a:prstGeom prst="rect">
            <a:avLst/>
          </a:prstGeom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6868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None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496312" y="5577840"/>
            <a:ext cx="201168" cy="2011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78892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Low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416552" y="5577840"/>
            <a:ext cx="201168" cy="201168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70916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36792" y="5577840"/>
            <a:ext cx="201168" cy="201168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629400" y="5577840"/>
            <a:ext cx="15544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High</a:t>
            </a:r>
            <a:endParaRPr lang="en-US" sz="1100" dirty="0"/>
          </a:p>
        </p:txBody>
      </p:sp>
      <p:sp>
        <p:nvSpPr>
          <p:cNvPr id="63" name="TextBox 6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 MATRIX_2X2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2×2 Strategic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5678424"/>
            <a:ext cx="621792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76072" y="2066544"/>
            <a:ext cx="0" cy="361188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85032" y="2066544"/>
            <a:ext cx="0" cy="361188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76072" y="3872484"/>
            <a:ext cx="6217920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" y="1792224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Vertical Axis (Higher = Greater)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67912" y="5733288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Horizontal Axis (Right = Greater)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2622" y="2768803"/>
            <a:ext cx="1060704" cy="329184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68342" y="2814523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Initiative 1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4273906" y="3418942"/>
            <a:ext cx="1060704" cy="329184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319626" y="3464662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Initiative 2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2221992" y="3021635"/>
            <a:ext cx="1060704" cy="329184"/>
          </a:xfrm>
          <a:prstGeom prst="rect">
            <a:avLst/>
          </a:prstGeom>
          <a:ln w="762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67712" y="3067355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Initiative 3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2905963" y="4141318"/>
            <a:ext cx="1060704" cy="329184"/>
          </a:xfrm>
          <a:prstGeom prst="rect">
            <a:avLst/>
          </a:prstGeom>
          <a:ln w="762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951683" y="4187038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Initiative 4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1475842" y="4574743"/>
            <a:ext cx="1060704" cy="329184"/>
          </a:xfrm>
          <a:prstGeom prst="rect">
            <a:avLst/>
          </a:prstGeom>
          <a:ln w="762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521562" y="4620463"/>
            <a:ext cx="96926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Initiative 5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7315200" y="2130552"/>
            <a:ext cx="4023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5236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52360" y="3410712"/>
            <a:ext cx="3657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29" name="TextBox 28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09 | Table with Structured Axes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Table with Structured Axes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7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572768"/>
          <a:ext cx="11039551" cy="914400"/>
        </p:xfrm>
        <a:graphic>
          <a:graphicData uri="http://schemas.openxmlformats.org/drawingml/2006/table">
            <a:tbl>
              <a:tblPr/>
              <a:tblGrid>
                <a:gridCol w="1876002"/>
                <a:gridCol w="3824158"/>
                <a:gridCol w="2525388"/>
                <a:gridCol w="2814003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1 (Axis)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2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3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4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12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5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12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8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12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11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12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14 | Harvey Ball Evaluation 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Harvey Ball Evaluation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012406" y="1617984"/>
            <a:ext cx="165600" cy="165600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232006" y="1609344"/>
            <a:ext cx="360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Fully Meets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808279" y="1617984"/>
            <a:ext cx="165600" cy="1656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808279" y="1617984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27879" y="1609344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Partially Meets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819951" y="1617984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039551" y="1609344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Does Not Meet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972224"/>
          <a:ext cx="11039551" cy="914400"/>
        </p:xfrm>
        <a:graphic>
          <a:graphicData uri="http://schemas.openxmlformats.org/drawingml/2006/table">
            <a:tbl>
              <a:tblPr/>
              <a:tblGrid>
                <a:gridCol w="1800000"/>
                <a:gridCol w="1224000"/>
                <a:gridCol w="1224000"/>
                <a:gridCol w="6791551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Evaluation Axis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Option 1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Option 2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Decision Rationale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3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4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5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2905272" y="2894220"/>
            <a:ext cx="165600" cy="165600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4129272" y="2894220"/>
            <a:ext cx="165600" cy="1656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129272" y="2894220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905272" y="4172292"/>
            <a:ext cx="165600" cy="165600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905272" y="4172292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129272" y="4172292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905272" y="5450364"/>
            <a:ext cx="165600" cy="1656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2905272" y="5450364"/>
            <a:ext cx="165600" cy="165600"/>
          </a:xfrm>
          <a:prstGeom prst="ellipse">
            <a:avLst/>
          </a:prstGeom>
          <a:ln w="9525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4129272" y="5450364"/>
            <a:ext cx="165600" cy="165600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7" name="TextBox 36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13 | Status Heatmap + Right Commentary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Status Heatmap + Right Commentary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734529" y="1628784"/>
            <a:ext cx="144000" cy="14400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32529" y="1609344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Significant Improvement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724601" y="1628784"/>
            <a:ext cx="144000" cy="1440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22601" y="1609344"/>
            <a:ext cx="2523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Improvement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390975" y="1628784"/>
            <a:ext cx="144000" cy="1440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588975" y="1609344"/>
            <a:ext cx="360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Flat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165249" y="1628784"/>
            <a:ext cx="144000" cy="144000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363249" y="1609344"/>
            <a:ext cx="2523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Deterioration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6072" y="1972224"/>
            <a:ext cx="3944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Status by Metric Category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20356" y="197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 of YYYY-MM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6072" y="2283120"/>
            <a:ext cx="5773084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392848"/>
          <a:ext cx="5773084" cy="914400"/>
        </p:xfrm>
        <a:graphic>
          <a:graphicData uri="http://schemas.openxmlformats.org/drawingml/2006/table">
            <a:tbl>
              <a:tblPr/>
              <a:tblGrid>
                <a:gridCol w="2437524"/>
                <a:gridCol w="1667780"/>
                <a:gridCol w="16677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Metric Category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MoM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YoY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3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1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3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2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3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3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3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4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103596" y="3095307"/>
            <a:ext cx="1487780" cy="18000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771376" y="3095307"/>
            <a:ext cx="1487780" cy="180000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3103596" y="3948705"/>
            <a:ext cx="1487780" cy="1800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771376" y="3948705"/>
            <a:ext cx="1487780" cy="1800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3103596" y="4802103"/>
            <a:ext cx="1487780" cy="1800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4771376" y="4802103"/>
            <a:ext cx="1487780" cy="18000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3103596" y="5655501"/>
            <a:ext cx="1487780" cy="180000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4771376" y="5655501"/>
            <a:ext cx="1487780" cy="1800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rot="5400000">
            <a:off x="6493156" y="3964212"/>
            <a:ext cx="360000" cy="216000"/>
          </a:xfrm>
          <a:prstGeom prst="triangle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6997156" y="1972224"/>
            <a:ext cx="46184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Therefore, Key Focus Areas Ahead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997156" y="2283120"/>
            <a:ext cx="4618467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997156" y="2392848"/>
            <a:ext cx="4618467" cy="3779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12 | Strategic Levers &amp; Impact Table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Strategic Levers &amp; Impact Table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851479" y="1628784"/>
            <a:ext cx="144000" cy="1440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49479" y="1609344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Increase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841551" y="1628784"/>
            <a:ext cx="144000" cy="1440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039551" y="1609344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Decrease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972224"/>
          <a:ext cx="11039551" cy="914400"/>
        </p:xfrm>
        <a:graphic>
          <a:graphicData uri="http://schemas.openxmlformats.org/drawingml/2006/table">
            <a:tbl>
              <a:tblPr/>
              <a:tblGrid>
                <a:gridCol w="2016000"/>
                <a:gridCol w="2016000"/>
                <a:gridCol w="7007551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Initiatives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Impact Range (Unit)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Assumptions &amp; Constraints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18288" marB="54864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2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5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8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8</a:t>
                      </a:r>
                      <a:endParaRPr lang="en-US" sz="10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marL="127000" indent="-1270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2646936" y="2878020"/>
            <a:ext cx="1525018" cy="198000"/>
          </a:xfrm>
          <a:prstGeom prst="homePlate">
            <a:avLst/>
          </a:prstGeom>
          <a:solidFill>
            <a:srgbClr val="5A3921"/>
          </a:solidFill>
          <a:ln/>
        </p:spPr>
        <p:txBody>
          <a:bodyPr wrap="square" lIns="10800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+00-00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46936" y="4156092"/>
            <a:ext cx="1048450" cy="198000"/>
          </a:xfrm>
          <a:prstGeom prst="homePlate">
            <a:avLst/>
          </a:prstGeom>
          <a:solidFill>
            <a:srgbClr val="5A3921"/>
          </a:solidFill>
          <a:ln/>
        </p:spPr>
        <p:txBody>
          <a:bodyPr wrap="square" lIns="10800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+00-00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46936" y="5434164"/>
            <a:ext cx="724383" cy="198000"/>
          </a:xfrm>
          <a:prstGeom prst="homePlate">
            <a:avLst/>
          </a:prstGeom>
          <a:solidFill>
            <a:srgbClr val="E2DCD2"/>
          </a:solidFill>
          <a:ln/>
        </p:spPr>
        <p:txBody>
          <a:bodyPr wrap="square" lIns="10800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−00</a:t>
            </a:r>
            <a:endParaRPr lang="en-US" sz="900" dirty="0"/>
          </a:p>
        </p:txBody>
      </p:sp>
      <p:sp>
        <p:nvSpPr>
          <p:cNvPr id="39" name="TextBox 38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16 | Progress Bubble 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Progress Bubble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6833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Count by Implementation Stage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9383" y="161848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Cases, n=Label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99990" y="1993392"/>
            <a:ext cx="2181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Concept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81898" y="1993392"/>
            <a:ext cx="2181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Pilot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63806" y="1993392"/>
            <a:ext cx="2181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Partial Rollout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5715" y="1993392"/>
            <a:ext cx="2181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Full Rollout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" y="2636901"/>
            <a:ext cx="1915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Tier 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91094" y="2519932"/>
            <a:ext cx="599699" cy="599699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391094" y="2519932"/>
            <a:ext cx="599699" cy="599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08618" y="2655547"/>
            <a:ext cx="328469" cy="328469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44252" y="25911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90526" y="2655547"/>
            <a:ext cx="328469" cy="328469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826161" y="25911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127179" y="2710291"/>
            <a:ext cx="218979" cy="218979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08069" y="25911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" y="3594735"/>
            <a:ext cx="1915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Tier 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78918" y="3565589"/>
            <a:ext cx="424051" cy="424051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462344" y="35490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83211" y="3587974"/>
            <a:ext cx="379283" cy="379283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44252" y="35490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20664" y="3643518"/>
            <a:ext cx="268194" cy="268194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826161" y="35490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102572" y="3643518"/>
            <a:ext cx="268194" cy="268194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008069" y="35490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6072" y="4552569"/>
            <a:ext cx="1915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Tier 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88654" y="4333159"/>
            <a:ext cx="804581" cy="804581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288654" y="4333159"/>
            <a:ext cx="804581" cy="804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75467" y="4538064"/>
            <a:ext cx="394770" cy="394770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644252" y="45068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857376" y="4538064"/>
            <a:ext cx="394770" cy="394770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826161" y="45068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102572" y="4601352"/>
            <a:ext cx="268194" cy="268194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0008069" y="450684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76072" y="5510403"/>
            <a:ext cx="1915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Tier 5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536102" y="5538441"/>
            <a:ext cx="309683" cy="309683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462344" y="54646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708618" y="5529049"/>
            <a:ext cx="328469" cy="328469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644252" y="54646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20664" y="5559186"/>
            <a:ext cx="268194" cy="268194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826161" y="54646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127179" y="5583793"/>
            <a:ext cx="218979" cy="218979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10008069" y="54646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Box 5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15 | Dot Matrix Distribution / Share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Dot Matrix Distribution / Share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6833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Areas Addressed by Text 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9383" y="161848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Share of Respondents, n=Label 2, Multiple Responses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6072" y="1901952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6072" y="3167244"/>
            <a:ext cx="265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8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486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594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702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810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918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026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134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242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350216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378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486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594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702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810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918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026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134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242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350216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378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486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594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702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810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918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2026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134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2242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350216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378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486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594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702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810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918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2026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2134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2242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2350216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1378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486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594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702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810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1918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2026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2134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2242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2350216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1378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1486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94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1702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1810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1918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2026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2134216" y="407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2242216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2350216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1378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1486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1594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1702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1810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1918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2026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2134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2242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2350216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1378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1486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1594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1702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1810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1918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2026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2134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2242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2350216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1378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1486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1594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1702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1810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1918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2026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01" name="Shape 99"/>
          <p:cNvSpPr/>
          <p:nvPr/>
        </p:nvSpPr>
        <p:spPr>
          <a:xfrm>
            <a:off x="2134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2242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2350216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04" name="Shape 102"/>
          <p:cNvSpPr/>
          <p:nvPr/>
        </p:nvSpPr>
        <p:spPr>
          <a:xfrm>
            <a:off x="1378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05" name="Shape 103"/>
          <p:cNvSpPr/>
          <p:nvPr/>
        </p:nvSpPr>
        <p:spPr>
          <a:xfrm>
            <a:off x="1486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06" name="Shape 104"/>
          <p:cNvSpPr/>
          <p:nvPr/>
        </p:nvSpPr>
        <p:spPr>
          <a:xfrm>
            <a:off x="1594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07" name="Shape 105"/>
          <p:cNvSpPr/>
          <p:nvPr/>
        </p:nvSpPr>
        <p:spPr>
          <a:xfrm>
            <a:off x="1702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1810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09" name="Shape 107"/>
          <p:cNvSpPr/>
          <p:nvPr/>
        </p:nvSpPr>
        <p:spPr>
          <a:xfrm>
            <a:off x="1918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10" name="Shape 108"/>
          <p:cNvSpPr/>
          <p:nvPr/>
        </p:nvSpPr>
        <p:spPr>
          <a:xfrm>
            <a:off x="2026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11" name="Shape 109"/>
          <p:cNvSpPr/>
          <p:nvPr/>
        </p:nvSpPr>
        <p:spPr>
          <a:xfrm>
            <a:off x="2134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12" name="Shape 110"/>
          <p:cNvSpPr/>
          <p:nvPr/>
        </p:nvSpPr>
        <p:spPr>
          <a:xfrm>
            <a:off x="2242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13" name="Shape 111"/>
          <p:cNvSpPr/>
          <p:nvPr/>
        </p:nvSpPr>
        <p:spPr>
          <a:xfrm>
            <a:off x="2350216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576072" y="4669164"/>
            <a:ext cx="265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3371960" y="3167244"/>
            <a:ext cx="265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42%</a:t>
            </a:r>
            <a:endParaRPr lang="en-US" sz="1500" dirty="0"/>
          </a:p>
        </p:txBody>
      </p:sp>
      <p:sp>
        <p:nvSpPr>
          <p:cNvPr id="116" name="Shape 114"/>
          <p:cNvSpPr/>
          <p:nvPr/>
        </p:nvSpPr>
        <p:spPr>
          <a:xfrm>
            <a:off x="4174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17" name="Shape 115"/>
          <p:cNvSpPr/>
          <p:nvPr/>
        </p:nvSpPr>
        <p:spPr>
          <a:xfrm>
            <a:off x="4282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18" name="Shape 116"/>
          <p:cNvSpPr/>
          <p:nvPr/>
        </p:nvSpPr>
        <p:spPr>
          <a:xfrm>
            <a:off x="4390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19" name="Shape 117"/>
          <p:cNvSpPr/>
          <p:nvPr/>
        </p:nvSpPr>
        <p:spPr>
          <a:xfrm>
            <a:off x="4498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0" name="Shape 118"/>
          <p:cNvSpPr/>
          <p:nvPr/>
        </p:nvSpPr>
        <p:spPr>
          <a:xfrm>
            <a:off x="4606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1" name="Shape 119"/>
          <p:cNvSpPr/>
          <p:nvPr/>
        </p:nvSpPr>
        <p:spPr>
          <a:xfrm>
            <a:off x="4714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2" name="Shape 120"/>
          <p:cNvSpPr/>
          <p:nvPr/>
        </p:nvSpPr>
        <p:spPr>
          <a:xfrm>
            <a:off x="4822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3" name="Shape 121"/>
          <p:cNvSpPr/>
          <p:nvPr/>
        </p:nvSpPr>
        <p:spPr>
          <a:xfrm>
            <a:off x="4930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4" name="Shape 122"/>
          <p:cNvSpPr/>
          <p:nvPr/>
        </p:nvSpPr>
        <p:spPr>
          <a:xfrm>
            <a:off x="5038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5" name="Shape 123"/>
          <p:cNvSpPr/>
          <p:nvPr/>
        </p:nvSpPr>
        <p:spPr>
          <a:xfrm>
            <a:off x="5146104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6" name="Shape 124"/>
          <p:cNvSpPr/>
          <p:nvPr/>
        </p:nvSpPr>
        <p:spPr>
          <a:xfrm>
            <a:off x="4174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7" name="Shape 125"/>
          <p:cNvSpPr/>
          <p:nvPr/>
        </p:nvSpPr>
        <p:spPr>
          <a:xfrm>
            <a:off x="4282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8" name="Shape 126"/>
          <p:cNvSpPr/>
          <p:nvPr/>
        </p:nvSpPr>
        <p:spPr>
          <a:xfrm>
            <a:off x="4390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9" name="Shape 127"/>
          <p:cNvSpPr/>
          <p:nvPr/>
        </p:nvSpPr>
        <p:spPr>
          <a:xfrm>
            <a:off x="4498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0" name="Shape 128"/>
          <p:cNvSpPr/>
          <p:nvPr/>
        </p:nvSpPr>
        <p:spPr>
          <a:xfrm>
            <a:off x="4606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1" name="Shape 129"/>
          <p:cNvSpPr/>
          <p:nvPr/>
        </p:nvSpPr>
        <p:spPr>
          <a:xfrm>
            <a:off x="4714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2" name="Shape 130"/>
          <p:cNvSpPr/>
          <p:nvPr/>
        </p:nvSpPr>
        <p:spPr>
          <a:xfrm>
            <a:off x="4822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3" name="Shape 131"/>
          <p:cNvSpPr/>
          <p:nvPr/>
        </p:nvSpPr>
        <p:spPr>
          <a:xfrm>
            <a:off x="4930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4" name="Shape 132"/>
          <p:cNvSpPr/>
          <p:nvPr/>
        </p:nvSpPr>
        <p:spPr>
          <a:xfrm>
            <a:off x="5038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5" name="Shape 133"/>
          <p:cNvSpPr/>
          <p:nvPr/>
        </p:nvSpPr>
        <p:spPr>
          <a:xfrm>
            <a:off x="5146104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6" name="Shape 134"/>
          <p:cNvSpPr/>
          <p:nvPr/>
        </p:nvSpPr>
        <p:spPr>
          <a:xfrm>
            <a:off x="4174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7" name="Shape 135"/>
          <p:cNvSpPr/>
          <p:nvPr/>
        </p:nvSpPr>
        <p:spPr>
          <a:xfrm>
            <a:off x="4282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8" name="Shape 136"/>
          <p:cNvSpPr/>
          <p:nvPr/>
        </p:nvSpPr>
        <p:spPr>
          <a:xfrm>
            <a:off x="4390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9" name="Shape 137"/>
          <p:cNvSpPr/>
          <p:nvPr/>
        </p:nvSpPr>
        <p:spPr>
          <a:xfrm>
            <a:off x="4498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0" name="Shape 138"/>
          <p:cNvSpPr/>
          <p:nvPr/>
        </p:nvSpPr>
        <p:spPr>
          <a:xfrm>
            <a:off x="4606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1" name="Shape 139"/>
          <p:cNvSpPr/>
          <p:nvPr/>
        </p:nvSpPr>
        <p:spPr>
          <a:xfrm>
            <a:off x="4714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2" name="Shape 140"/>
          <p:cNvSpPr/>
          <p:nvPr/>
        </p:nvSpPr>
        <p:spPr>
          <a:xfrm>
            <a:off x="4822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3" name="Shape 141"/>
          <p:cNvSpPr/>
          <p:nvPr/>
        </p:nvSpPr>
        <p:spPr>
          <a:xfrm>
            <a:off x="4930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4" name="Shape 142"/>
          <p:cNvSpPr/>
          <p:nvPr/>
        </p:nvSpPr>
        <p:spPr>
          <a:xfrm>
            <a:off x="5038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5" name="Shape 143"/>
          <p:cNvSpPr/>
          <p:nvPr/>
        </p:nvSpPr>
        <p:spPr>
          <a:xfrm>
            <a:off x="5146104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6" name="Shape 144"/>
          <p:cNvSpPr/>
          <p:nvPr/>
        </p:nvSpPr>
        <p:spPr>
          <a:xfrm>
            <a:off x="4174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7" name="Shape 145"/>
          <p:cNvSpPr/>
          <p:nvPr/>
        </p:nvSpPr>
        <p:spPr>
          <a:xfrm>
            <a:off x="4282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8" name="Shape 146"/>
          <p:cNvSpPr/>
          <p:nvPr/>
        </p:nvSpPr>
        <p:spPr>
          <a:xfrm>
            <a:off x="4390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9" name="Shape 147"/>
          <p:cNvSpPr/>
          <p:nvPr/>
        </p:nvSpPr>
        <p:spPr>
          <a:xfrm>
            <a:off x="4498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0" name="Shape 148"/>
          <p:cNvSpPr/>
          <p:nvPr/>
        </p:nvSpPr>
        <p:spPr>
          <a:xfrm>
            <a:off x="4606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1" name="Shape 149"/>
          <p:cNvSpPr/>
          <p:nvPr/>
        </p:nvSpPr>
        <p:spPr>
          <a:xfrm>
            <a:off x="4714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2" name="Shape 150"/>
          <p:cNvSpPr/>
          <p:nvPr/>
        </p:nvSpPr>
        <p:spPr>
          <a:xfrm>
            <a:off x="4822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3" name="Shape 151"/>
          <p:cNvSpPr/>
          <p:nvPr/>
        </p:nvSpPr>
        <p:spPr>
          <a:xfrm>
            <a:off x="4930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4" name="Shape 152"/>
          <p:cNvSpPr/>
          <p:nvPr/>
        </p:nvSpPr>
        <p:spPr>
          <a:xfrm>
            <a:off x="5038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5" name="Shape 153"/>
          <p:cNvSpPr/>
          <p:nvPr/>
        </p:nvSpPr>
        <p:spPr>
          <a:xfrm>
            <a:off x="5146104" y="3855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6" name="Shape 154"/>
          <p:cNvSpPr/>
          <p:nvPr/>
        </p:nvSpPr>
        <p:spPr>
          <a:xfrm>
            <a:off x="4174104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7" name="Shape 155"/>
          <p:cNvSpPr/>
          <p:nvPr/>
        </p:nvSpPr>
        <p:spPr>
          <a:xfrm>
            <a:off x="4282104" y="3963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8" name="Shape 156"/>
          <p:cNvSpPr/>
          <p:nvPr/>
        </p:nvSpPr>
        <p:spPr>
          <a:xfrm>
            <a:off x="4390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59" name="Shape 157"/>
          <p:cNvSpPr/>
          <p:nvPr/>
        </p:nvSpPr>
        <p:spPr>
          <a:xfrm>
            <a:off x="4498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60" name="Shape 158"/>
          <p:cNvSpPr/>
          <p:nvPr/>
        </p:nvSpPr>
        <p:spPr>
          <a:xfrm>
            <a:off x="4606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61" name="Shape 159"/>
          <p:cNvSpPr/>
          <p:nvPr/>
        </p:nvSpPr>
        <p:spPr>
          <a:xfrm>
            <a:off x="4714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62" name="Shape 160"/>
          <p:cNvSpPr/>
          <p:nvPr/>
        </p:nvSpPr>
        <p:spPr>
          <a:xfrm>
            <a:off x="4822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63" name="Shape 161"/>
          <p:cNvSpPr/>
          <p:nvPr/>
        </p:nvSpPr>
        <p:spPr>
          <a:xfrm>
            <a:off x="4930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64" name="Shape 162"/>
          <p:cNvSpPr/>
          <p:nvPr/>
        </p:nvSpPr>
        <p:spPr>
          <a:xfrm>
            <a:off x="5038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65" name="Shape 163"/>
          <p:cNvSpPr/>
          <p:nvPr/>
        </p:nvSpPr>
        <p:spPr>
          <a:xfrm>
            <a:off x="5146104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66" name="Shape 164"/>
          <p:cNvSpPr/>
          <p:nvPr/>
        </p:nvSpPr>
        <p:spPr>
          <a:xfrm>
            <a:off x="4174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67" name="Shape 165"/>
          <p:cNvSpPr/>
          <p:nvPr/>
        </p:nvSpPr>
        <p:spPr>
          <a:xfrm>
            <a:off x="4282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68" name="Shape 166"/>
          <p:cNvSpPr/>
          <p:nvPr/>
        </p:nvSpPr>
        <p:spPr>
          <a:xfrm>
            <a:off x="4390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69" name="Shape 167"/>
          <p:cNvSpPr/>
          <p:nvPr/>
        </p:nvSpPr>
        <p:spPr>
          <a:xfrm>
            <a:off x="4498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70" name="Shape 168"/>
          <p:cNvSpPr/>
          <p:nvPr/>
        </p:nvSpPr>
        <p:spPr>
          <a:xfrm>
            <a:off x="4606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71" name="Shape 169"/>
          <p:cNvSpPr/>
          <p:nvPr/>
        </p:nvSpPr>
        <p:spPr>
          <a:xfrm>
            <a:off x="4714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72" name="Shape 170"/>
          <p:cNvSpPr/>
          <p:nvPr/>
        </p:nvSpPr>
        <p:spPr>
          <a:xfrm>
            <a:off x="4822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73" name="Shape 171"/>
          <p:cNvSpPr/>
          <p:nvPr/>
        </p:nvSpPr>
        <p:spPr>
          <a:xfrm>
            <a:off x="4930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74" name="Shape 172"/>
          <p:cNvSpPr/>
          <p:nvPr/>
        </p:nvSpPr>
        <p:spPr>
          <a:xfrm>
            <a:off x="5038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75" name="Shape 173"/>
          <p:cNvSpPr/>
          <p:nvPr/>
        </p:nvSpPr>
        <p:spPr>
          <a:xfrm>
            <a:off x="5146104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76" name="Shape 174"/>
          <p:cNvSpPr/>
          <p:nvPr/>
        </p:nvSpPr>
        <p:spPr>
          <a:xfrm>
            <a:off x="4174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77" name="Shape 175"/>
          <p:cNvSpPr/>
          <p:nvPr/>
        </p:nvSpPr>
        <p:spPr>
          <a:xfrm>
            <a:off x="4282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78" name="Shape 176"/>
          <p:cNvSpPr/>
          <p:nvPr/>
        </p:nvSpPr>
        <p:spPr>
          <a:xfrm>
            <a:off x="4390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79" name="Shape 177"/>
          <p:cNvSpPr/>
          <p:nvPr/>
        </p:nvSpPr>
        <p:spPr>
          <a:xfrm>
            <a:off x="4498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80" name="Shape 178"/>
          <p:cNvSpPr/>
          <p:nvPr/>
        </p:nvSpPr>
        <p:spPr>
          <a:xfrm>
            <a:off x="4606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81" name="Shape 179"/>
          <p:cNvSpPr/>
          <p:nvPr/>
        </p:nvSpPr>
        <p:spPr>
          <a:xfrm>
            <a:off x="4714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82" name="Shape 180"/>
          <p:cNvSpPr/>
          <p:nvPr/>
        </p:nvSpPr>
        <p:spPr>
          <a:xfrm>
            <a:off x="4822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83" name="Shape 181"/>
          <p:cNvSpPr/>
          <p:nvPr/>
        </p:nvSpPr>
        <p:spPr>
          <a:xfrm>
            <a:off x="4930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84" name="Shape 182"/>
          <p:cNvSpPr/>
          <p:nvPr/>
        </p:nvSpPr>
        <p:spPr>
          <a:xfrm>
            <a:off x="5038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85" name="Shape 183"/>
          <p:cNvSpPr/>
          <p:nvPr/>
        </p:nvSpPr>
        <p:spPr>
          <a:xfrm>
            <a:off x="5146104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86" name="Shape 184"/>
          <p:cNvSpPr/>
          <p:nvPr/>
        </p:nvSpPr>
        <p:spPr>
          <a:xfrm>
            <a:off x="4174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87" name="Shape 185"/>
          <p:cNvSpPr/>
          <p:nvPr/>
        </p:nvSpPr>
        <p:spPr>
          <a:xfrm>
            <a:off x="4282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4390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89" name="Shape 187"/>
          <p:cNvSpPr/>
          <p:nvPr/>
        </p:nvSpPr>
        <p:spPr>
          <a:xfrm>
            <a:off x="4498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90" name="Shape 188"/>
          <p:cNvSpPr/>
          <p:nvPr/>
        </p:nvSpPr>
        <p:spPr>
          <a:xfrm>
            <a:off x="4606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91" name="Shape 189"/>
          <p:cNvSpPr/>
          <p:nvPr/>
        </p:nvSpPr>
        <p:spPr>
          <a:xfrm>
            <a:off x="4714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4822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93" name="Shape 191"/>
          <p:cNvSpPr/>
          <p:nvPr/>
        </p:nvSpPr>
        <p:spPr>
          <a:xfrm>
            <a:off x="4930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94" name="Shape 192"/>
          <p:cNvSpPr/>
          <p:nvPr/>
        </p:nvSpPr>
        <p:spPr>
          <a:xfrm>
            <a:off x="5038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95" name="Shape 193"/>
          <p:cNvSpPr/>
          <p:nvPr/>
        </p:nvSpPr>
        <p:spPr>
          <a:xfrm>
            <a:off x="5146104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96" name="Shape 194"/>
          <p:cNvSpPr/>
          <p:nvPr/>
        </p:nvSpPr>
        <p:spPr>
          <a:xfrm>
            <a:off x="4174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97" name="Shape 195"/>
          <p:cNvSpPr/>
          <p:nvPr/>
        </p:nvSpPr>
        <p:spPr>
          <a:xfrm>
            <a:off x="4282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98" name="Shape 196"/>
          <p:cNvSpPr/>
          <p:nvPr/>
        </p:nvSpPr>
        <p:spPr>
          <a:xfrm>
            <a:off x="4390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199" name="Shape 197"/>
          <p:cNvSpPr/>
          <p:nvPr/>
        </p:nvSpPr>
        <p:spPr>
          <a:xfrm>
            <a:off x="4498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00" name="Shape 198"/>
          <p:cNvSpPr/>
          <p:nvPr/>
        </p:nvSpPr>
        <p:spPr>
          <a:xfrm>
            <a:off x="4606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4714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02" name="Shape 200"/>
          <p:cNvSpPr/>
          <p:nvPr/>
        </p:nvSpPr>
        <p:spPr>
          <a:xfrm>
            <a:off x="4822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03" name="Shape 201"/>
          <p:cNvSpPr/>
          <p:nvPr/>
        </p:nvSpPr>
        <p:spPr>
          <a:xfrm>
            <a:off x="4930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04" name="Shape 202"/>
          <p:cNvSpPr/>
          <p:nvPr/>
        </p:nvSpPr>
        <p:spPr>
          <a:xfrm>
            <a:off x="5038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05" name="Shape 203"/>
          <p:cNvSpPr/>
          <p:nvPr/>
        </p:nvSpPr>
        <p:spPr>
          <a:xfrm>
            <a:off x="5146104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06" name="Shape 204"/>
          <p:cNvSpPr/>
          <p:nvPr/>
        </p:nvSpPr>
        <p:spPr>
          <a:xfrm>
            <a:off x="4174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07" name="Shape 205"/>
          <p:cNvSpPr/>
          <p:nvPr/>
        </p:nvSpPr>
        <p:spPr>
          <a:xfrm>
            <a:off x="4282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08" name="Shape 206"/>
          <p:cNvSpPr/>
          <p:nvPr/>
        </p:nvSpPr>
        <p:spPr>
          <a:xfrm>
            <a:off x="4390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09" name="Shape 207"/>
          <p:cNvSpPr/>
          <p:nvPr/>
        </p:nvSpPr>
        <p:spPr>
          <a:xfrm>
            <a:off x="4498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10" name="Shape 208"/>
          <p:cNvSpPr/>
          <p:nvPr/>
        </p:nvSpPr>
        <p:spPr>
          <a:xfrm>
            <a:off x="4606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11" name="Shape 209"/>
          <p:cNvSpPr/>
          <p:nvPr/>
        </p:nvSpPr>
        <p:spPr>
          <a:xfrm>
            <a:off x="4714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12" name="Shape 210"/>
          <p:cNvSpPr/>
          <p:nvPr/>
        </p:nvSpPr>
        <p:spPr>
          <a:xfrm>
            <a:off x="4822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13" name="Shape 211"/>
          <p:cNvSpPr/>
          <p:nvPr/>
        </p:nvSpPr>
        <p:spPr>
          <a:xfrm>
            <a:off x="4930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14" name="Shape 212"/>
          <p:cNvSpPr/>
          <p:nvPr/>
        </p:nvSpPr>
        <p:spPr>
          <a:xfrm>
            <a:off x="5038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15" name="Shape 213"/>
          <p:cNvSpPr/>
          <p:nvPr/>
        </p:nvSpPr>
        <p:spPr>
          <a:xfrm>
            <a:off x="5146104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16" name="Text 214"/>
          <p:cNvSpPr/>
          <p:nvPr/>
        </p:nvSpPr>
        <p:spPr>
          <a:xfrm>
            <a:off x="3371960" y="4669164"/>
            <a:ext cx="265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900" dirty="0"/>
          </a:p>
        </p:txBody>
      </p:sp>
      <p:sp>
        <p:nvSpPr>
          <p:cNvPr id="217" name="Text 215"/>
          <p:cNvSpPr/>
          <p:nvPr/>
        </p:nvSpPr>
        <p:spPr>
          <a:xfrm>
            <a:off x="6167848" y="3167244"/>
            <a:ext cx="265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21%</a:t>
            </a:r>
            <a:endParaRPr lang="en-US" sz="1500" dirty="0"/>
          </a:p>
        </p:txBody>
      </p:sp>
      <p:sp>
        <p:nvSpPr>
          <p:cNvPr id="218" name="Shape 216"/>
          <p:cNvSpPr/>
          <p:nvPr/>
        </p:nvSpPr>
        <p:spPr>
          <a:xfrm>
            <a:off x="6969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19" name="Shape 217"/>
          <p:cNvSpPr/>
          <p:nvPr/>
        </p:nvSpPr>
        <p:spPr>
          <a:xfrm>
            <a:off x="7077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20" name="Shape 218"/>
          <p:cNvSpPr/>
          <p:nvPr/>
        </p:nvSpPr>
        <p:spPr>
          <a:xfrm>
            <a:off x="7185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21" name="Shape 219"/>
          <p:cNvSpPr/>
          <p:nvPr/>
        </p:nvSpPr>
        <p:spPr>
          <a:xfrm>
            <a:off x="7293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22" name="Shape 220"/>
          <p:cNvSpPr/>
          <p:nvPr/>
        </p:nvSpPr>
        <p:spPr>
          <a:xfrm>
            <a:off x="7401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23" name="Shape 221"/>
          <p:cNvSpPr/>
          <p:nvPr/>
        </p:nvSpPr>
        <p:spPr>
          <a:xfrm>
            <a:off x="7509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24" name="Shape 222"/>
          <p:cNvSpPr/>
          <p:nvPr/>
        </p:nvSpPr>
        <p:spPr>
          <a:xfrm>
            <a:off x="7617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25" name="Shape 223"/>
          <p:cNvSpPr/>
          <p:nvPr/>
        </p:nvSpPr>
        <p:spPr>
          <a:xfrm>
            <a:off x="7725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26" name="Shape 224"/>
          <p:cNvSpPr/>
          <p:nvPr/>
        </p:nvSpPr>
        <p:spPr>
          <a:xfrm>
            <a:off x="7833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27" name="Shape 225"/>
          <p:cNvSpPr/>
          <p:nvPr/>
        </p:nvSpPr>
        <p:spPr>
          <a:xfrm>
            <a:off x="7941992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28" name="Shape 226"/>
          <p:cNvSpPr/>
          <p:nvPr/>
        </p:nvSpPr>
        <p:spPr>
          <a:xfrm>
            <a:off x="6969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29" name="Shape 227"/>
          <p:cNvSpPr/>
          <p:nvPr/>
        </p:nvSpPr>
        <p:spPr>
          <a:xfrm>
            <a:off x="7077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30" name="Shape 228"/>
          <p:cNvSpPr/>
          <p:nvPr/>
        </p:nvSpPr>
        <p:spPr>
          <a:xfrm>
            <a:off x="7185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31" name="Shape 229"/>
          <p:cNvSpPr/>
          <p:nvPr/>
        </p:nvSpPr>
        <p:spPr>
          <a:xfrm>
            <a:off x="7293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32" name="Shape 230"/>
          <p:cNvSpPr/>
          <p:nvPr/>
        </p:nvSpPr>
        <p:spPr>
          <a:xfrm>
            <a:off x="7401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33" name="Shape 231"/>
          <p:cNvSpPr/>
          <p:nvPr/>
        </p:nvSpPr>
        <p:spPr>
          <a:xfrm>
            <a:off x="7509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34" name="Shape 232"/>
          <p:cNvSpPr/>
          <p:nvPr/>
        </p:nvSpPr>
        <p:spPr>
          <a:xfrm>
            <a:off x="7617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35" name="Shape 233"/>
          <p:cNvSpPr/>
          <p:nvPr/>
        </p:nvSpPr>
        <p:spPr>
          <a:xfrm>
            <a:off x="7725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36" name="Shape 234"/>
          <p:cNvSpPr/>
          <p:nvPr/>
        </p:nvSpPr>
        <p:spPr>
          <a:xfrm>
            <a:off x="7833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37" name="Shape 235"/>
          <p:cNvSpPr/>
          <p:nvPr/>
        </p:nvSpPr>
        <p:spPr>
          <a:xfrm>
            <a:off x="7941992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38" name="Shape 236"/>
          <p:cNvSpPr/>
          <p:nvPr/>
        </p:nvSpPr>
        <p:spPr>
          <a:xfrm>
            <a:off x="6969992" y="3747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39" name="Shape 237"/>
          <p:cNvSpPr/>
          <p:nvPr/>
        </p:nvSpPr>
        <p:spPr>
          <a:xfrm>
            <a:off x="7077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40" name="Shape 238"/>
          <p:cNvSpPr/>
          <p:nvPr/>
        </p:nvSpPr>
        <p:spPr>
          <a:xfrm>
            <a:off x="7185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41" name="Shape 239"/>
          <p:cNvSpPr/>
          <p:nvPr/>
        </p:nvSpPr>
        <p:spPr>
          <a:xfrm>
            <a:off x="7293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42" name="Shape 240"/>
          <p:cNvSpPr/>
          <p:nvPr/>
        </p:nvSpPr>
        <p:spPr>
          <a:xfrm>
            <a:off x="7401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43" name="Shape 241"/>
          <p:cNvSpPr/>
          <p:nvPr/>
        </p:nvSpPr>
        <p:spPr>
          <a:xfrm>
            <a:off x="7509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44" name="Shape 242"/>
          <p:cNvSpPr/>
          <p:nvPr/>
        </p:nvSpPr>
        <p:spPr>
          <a:xfrm>
            <a:off x="7617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45" name="Shape 243"/>
          <p:cNvSpPr/>
          <p:nvPr/>
        </p:nvSpPr>
        <p:spPr>
          <a:xfrm>
            <a:off x="7725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46" name="Shape 244"/>
          <p:cNvSpPr/>
          <p:nvPr/>
        </p:nvSpPr>
        <p:spPr>
          <a:xfrm>
            <a:off x="7833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47" name="Shape 245"/>
          <p:cNvSpPr/>
          <p:nvPr/>
        </p:nvSpPr>
        <p:spPr>
          <a:xfrm>
            <a:off x="7941992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48" name="Shape 246"/>
          <p:cNvSpPr/>
          <p:nvPr/>
        </p:nvSpPr>
        <p:spPr>
          <a:xfrm>
            <a:off x="6969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49" name="Shape 247"/>
          <p:cNvSpPr/>
          <p:nvPr/>
        </p:nvSpPr>
        <p:spPr>
          <a:xfrm>
            <a:off x="7077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50" name="Shape 248"/>
          <p:cNvSpPr/>
          <p:nvPr/>
        </p:nvSpPr>
        <p:spPr>
          <a:xfrm>
            <a:off x="7185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51" name="Shape 249"/>
          <p:cNvSpPr/>
          <p:nvPr/>
        </p:nvSpPr>
        <p:spPr>
          <a:xfrm>
            <a:off x="7293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52" name="Shape 250"/>
          <p:cNvSpPr/>
          <p:nvPr/>
        </p:nvSpPr>
        <p:spPr>
          <a:xfrm>
            <a:off x="7401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53" name="Shape 251"/>
          <p:cNvSpPr/>
          <p:nvPr/>
        </p:nvSpPr>
        <p:spPr>
          <a:xfrm>
            <a:off x="7509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54" name="Shape 252"/>
          <p:cNvSpPr/>
          <p:nvPr/>
        </p:nvSpPr>
        <p:spPr>
          <a:xfrm>
            <a:off x="7617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55" name="Shape 253"/>
          <p:cNvSpPr/>
          <p:nvPr/>
        </p:nvSpPr>
        <p:spPr>
          <a:xfrm>
            <a:off x="7725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56" name="Shape 254"/>
          <p:cNvSpPr/>
          <p:nvPr/>
        </p:nvSpPr>
        <p:spPr>
          <a:xfrm>
            <a:off x="7833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57" name="Shape 255"/>
          <p:cNvSpPr/>
          <p:nvPr/>
        </p:nvSpPr>
        <p:spPr>
          <a:xfrm>
            <a:off x="7941992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58" name="Shape 256"/>
          <p:cNvSpPr/>
          <p:nvPr/>
        </p:nvSpPr>
        <p:spPr>
          <a:xfrm>
            <a:off x="6969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59" name="Shape 257"/>
          <p:cNvSpPr/>
          <p:nvPr/>
        </p:nvSpPr>
        <p:spPr>
          <a:xfrm>
            <a:off x="7077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60" name="Shape 258"/>
          <p:cNvSpPr/>
          <p:nvPr/>
        </p:nvSpPr>
        <p:spPr>
          <a:xfrm>
            <a:off x="7185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61" name="Shape 259"/>
          <p:cNvSpPr/>
          <p:nvPr/>
        </p:nvSpPr>
        <p:spPr>
          <a:xfrm>
            <a:off x="7293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62" name="Shape 260"/>
          <p:cNvSpPr/>
          <p:nvPr/>
        </p:nvSpPr>
        <p:spPr>
          <a:xfrm>
            <a:off x="7401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63" name="Shape 261"/>
          <p:cNvSpPr/>
          <p:nvPr/>
        </p:nvSpPr>
        <p:spPr>
          <a:xfrm>
            <a:off x="7509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64" name="Shape 262"/>
          <p:cNvSpPr/>
          <p:nvPr/>
        </p:nvSpPr>
        <p:spPr>
          <a:xfrm>
            <a:off x="7617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65" name="Shape 263"/>
          <p:cNvSpPr/>
          <p:nvPr/>
        </p:nvSpPr>
        <p:spPr>
          <a:xfrm>
            <a:off x="7725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66" name="Shape 264"/>
          <p:cNvSpPr/>
          <p:nvPr/>
        </p:nvSpPr>
        <p:spPr>
          <a:xfrm>
            <a:off x="7833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67" name="Shape 265"/>
          <p:cNvSpPr/>
          <p:nvPr/>
        </p:nvSpPr>
        <p:spPr>
          <a:xfrm>
            <a:off x="7941992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68" name="Shape 266"/>
          <p:cNvSpPr/>
          <p:nvPr/>
        </p:nvSpPr>
        <p:spPr>
          <a:xfrm>
            <a:off x="6969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69" name="Shape 267"/>
          <p:cNvSpPr/>
          <p:nvPr/>
        </p:nvSpPr>
        <p:spPr>
          <a:xfrm>
            <a:off x="7077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70" name="Shape 268"/>
          <p:cNvSpPr/>
          <p:nvPr/>
        </p:nvSpPr>
        <p:spPr>
          <a:xfrm>
            <a:off x="7185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71" name="Shape 269"/>
          <p:cNvSpPr/>
          <p:nvPr/>
        </p:nvSpPr>
        <p:spPr>
          <a:xfrm>
            <a:off x="7293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72" name="Shape 270"/>
          <p:cNvSpPr/>
          <p:nvPr/>
        </p:nvSpPr>
        <p:spPr>
          <a:xfrm>
            <a:off x="7401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73" name="Shape 271"/>
          <p:cNvSpPr/>
          <p:nvPr/>
        </p:nvSpPr>
        <p:spPr>
          <a:xfrm>
            <a:off x="7509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74" name="Shape 272"/>
          <p:cNvSpPr/>
          <p:nvPr/>
        </p:nvSpPr>
        <p:spPr>
          <a:xfrm>
            <a:off x="7617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75" name="Shape 273"/>
          <p:cNvSpPr/>
          <p:nvPr/>
        </p:nvSpPr>
        <p:spPr>
          <a:xfrm>
            <a:off x="7725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76" name="Shape 274"/>
          <p:cNvSpPr/>
          <p:nvPr/>
        </p:nvSpPr>
        <p:spPr>
          <a:xfrm>
            <a:off x="7833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77" name="Shape 275"/>
          <p:cNvSpPr/>
          <p:nvPr/>
        </p:nvSpPr>
        <p:spPr>
          <a:xfrm>
            <a:off x="7941992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78" name="Shape 276"/>
          <p:cNvSpPr/>
          <p:nvPr/>
        </p:nvSpPr>
        <p:spPr>
          <a:xfrm>
            <a:off x="6969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79" name="Shape 277"/>
          <p:cNvSpPr/>
          <p:nvPr/>
        </p:nvSpPr>
        <p:spPr>
          <a:xfrm>
            <a:off x="7077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80" name="Shape 278"/>
          <p:cNvSpPr/>
          <p:nvPr/>
        </p:nvSpPr>
        <p:spPr>
          <a:xfrm>
            <a:off x="7185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81" name="Shape 279"/>
          <p:cNvSpPr/>
          <p:nvPr/>
        </p:nvSpPr>
        <p:spPr>
          <a:xfrm>
            <a:off x="7293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82" name="Shape 280"/>
          <p:cNvSpPr/>
          <p:nvPr/>
        </p:nvSpPr>
        <p:spPr>
          <a:xfrm>
            <a:off x="7401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83" name="Shape 281"/>
          <p:cNvSpPr/>
          <p:nvPr/>
        </p:nvSpPr>
        <p:spPr>
          <a:xfrm>
            <a:off x="7509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84" name="Shape 282"/>
          <p:cNvSpPr/>
          <p:nvPr/>
        </p:nvSpPr>
        <p:spPr>
          <a:xfrm>
            <a:off x="7617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85" name="Shape 283"/>
          <p:cNvSpPr/>
          <p:nvPr/>
        </p:nvSpPr>
        <p:spPr>
          <a:xfrm>
            <a:off x="7725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86" name="Shape 284"/>
          <p:cNvSpPr/>
          <p:nvPr/>
        </p:nvSpPr>
        <p:spPr>
          <a:xfrm>
            <a:off x="7833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87" name="Shape 285"/>
          <p:cNvSpPr/>
          <p:nvPr/>
        </p:nvSpPr>
        <p:spPr>
          <a:xfrm>
            <a:off x="7941992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88" name="Shape 286"/>
          <p:cNvSpPr/>
          <p:nvPr/>
        </p:nvSpPr>
        <p:spPr>
          <a:xfrm>
            <a:off x="6969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89" name="Shape 287"/>
          <p:cNvSpPr/>
          <p:nvPr/>
        </p:nvSpPr>
        <p:spPr>
          <a:xfrm>
            <a:off x="7077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90" name="Shape 288"/>
          <p:cNvSpPr/>
          <p:nvPr/>
        </p:nvSpPr>
        <p:spPr>
          <a:xfrm>
            <a:off x="7185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91" name="Shape 289"/>
          <p:cNvSpPr/>
          <p:nvPr/>
        </p:nvSpPr>
        <p:spPr>
          <a:xfrm>
            <a:off x="7293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92" name="Shape 290"/>
          <p:cNvSpPr/>
          <p:nvPr/>
        </p:nvSpPr>
        <p:spPr>
          <a:xfrm>
            <a:off x="7401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93" name="Shape 291"/>
          <p:cNvSpPr/>
          <p:nvPr/>
        </p:nvSpPr>
        <p:spPr>
          <a:xfrm>
            <a:off x="7509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94" name="Shape 292"/>
          <p:cNvSpPr/>
          <p:nvPr/>
        </p:nvSpPr>
        <p:spPr>
          <a:xfrm>
            <a:off x="7617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95" name="Shape 293"/>
          <p:cNvSpPr/>
          <p:nvPr/>
        </p:nvSpPr>
        <p:spPr>
          <a:xfrm>
            <a:off x="7725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96" name="Shape 294"/>
          <p:cNvSpPr/>
          <p:nvPr/>
        </p:nvSpPr>
        <p:spPr>
          <a:xfrm>
            <a:off x="7833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97" name="Shape 295"/>
          <p:cNvSpPr/>
          <p:nvPr/>
        </p:nvSpPr>
        <p:spPr>
          <a:xfrm>
            <a:off x="7941992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98" name="Shape 296"/>
          <p:cNvSpPr/>
          <p:nvPr/>
        </p:nvSpPr>
        <p:spPr>
          <a:xfrm>
            <a:off x="6969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299" name="Shape 297"/>
          <p:cNvSpPr/>
          <p:nvPr/>
        </p:nvSpPr>
        <p:spPr>
          <a:xfrm>
            <a:off x="7077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00" name="Shape 298"/>
          <p:cNvSpPr/>
          <p:nvPr/>
        </p:nvSpPr>
        <p:spPr>
          <a:xfrm>
            <a:off x="7185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01" name="Shape 299"/>
          <p:cNvSpPr/>
          <p:nvPr/>
        </p:nvSpPr>
        <p:spPr>
          <a:xfrm>
            <a:off x="7293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02" name="Shape 300"/>
          <p:cNvSpPr/>
          <p:nvPr/>
        </p:nvSpPr>
        <p:spPr>
          <a:xfrm>
            <a:off x="7401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03" name="Shape 301"/>
          <p:cNvSpPr/>
          <p:nvPr/>
        </p:nvSpPr>
        <p:spPr>
          <a:xfrm>
            <a:off x="7509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04" name="Shape 302"/>
          <p:cNvSpPr/>
          <p:nvPr/>
        </p:nvSpPr>
        <p:spPr>
          <a:xfrm>
            <a:off x="7617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05" name="Shape 303"/>
          <p:cNvSpPr/>
          <p:nvPr/>
        </p:nvSpPr>
        <p:spPr>
          <a:xfrm>
            <a:off x="7725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06" name="Shape 304"/>
          <p:cNvSpPr/>
          <p:nvPr/>
        </p:nvSpPr>
        <p:spPr>
          <a:xfrm>
            <a:off x="7833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07" name="Shape 305"/>
          <p:cNvSpPr/>
          <p:nvPr/>
        </p:nvSpPr>
        <p:spPr>
          <a:xfrm>
            <a:off x="7941992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08" name="Shape 306"/>
          <p:cNvSpPr/>
          <p:nvPr/>
        </p:nvSpPr>
        <p:spPr>
          <a:xfrm>
            <a:off x="6969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09" name="Shape 307"/>
          <p:cNvSpPr/>
          <p:nvPr/>
        </p:nvSpPr>
        <p:spPr>
          <a:xfrm>
            <a:off x="7077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10" name="Shape 308"/>
          <p:cNvSpPr/>
          <p:nvPr/>
        </p:nvSpPr>
        <p:spPr>
          <a:xfrm>
            <a:off x="7185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11" name="Shape 309"/>
          <p:cNvSpPr/>
          <p:nvPr/>
        </p:nvSpPr>
        <p:spPr>
          <a:xfrm>
            <a:off x="7293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12" name="Shape 310"/>
          <p:cNvSpPr/>
          <p:nvPr/>
        </p:nvSpPr>
        <p:spPr>
          <a:xfrm>
            <a:off x="7401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13" name="Shape 311"/>
          <p:cNvSpPr/>
          <p:nvPr/>
        </p:nvSpPr>
        <p:spPr>
          <a:xfrm>
            <a:off x="7509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14" name="Shape 312"/>
          <p:cNvSpPr/>
          <p:nvPr/>
        </p:nvSpPr>
        <p:spPr>
          <a:xfrm>
            <a:off x="7617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15" name="Shape 313"/>
          <p:cNvSpPr/>
          <p:nvPr/>
        </p:nvSpPr>
        <p:spPr>
          <a:xfrm>
            <a:off x="7725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16" name="Shape 314"/>
          <p:cNvSpPr/>
          <p:nvPr/>
        </p:nvSpPr>
        <p:spPr>
          <a:xfrm>
            <a:off x="7833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17" name="Shape 315"/>
          <p:cNvSpPr/>
          <p:nvPr/>
        </p:nvSpPr>
        <p:spPr>
          <a:xfrm>
            <a:off x="7941992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18" name="Text 316"/>
          <p:cNvSpPr/>
          <p:nvPr/>
        </p:nvSpPr>
        <p:spPr>
          <a:xfrm>
            <a:off x="6167848" y="4669164"/>
            <a:ext cx="265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5</a:t>
            </a:r>
            <a:endParaRPr lang="en-US" sz="900" dirty="0"/>
          </a:p>
        </p:txBody>
      </p:sp>
      <p:sp>
        <p:nvSpPr>
          <p:cNvPr id="319" name="Text 317"/>
          <p:cNvSpPr/>
          <p:nvPr/>
        </p:nvSpPr>
        <p:spPr>
          <a:xfrm>
            <a:off x="8963735" y="3167244"/>
            <a:ext cx="265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13%</a:t>
            </a:r>
            <a:endParaRPr lang="en-US" sz="1500" dirty="0"/>
          </a:p>
        </p:txBody>
      </p:sp>
      <p:sp>
        <p:nvSpPr>
          <p:cNvPr id="320" name="Shape 318"/>
          <p:cNvSpPr/>
          <p:nvPr/>
        </p:nvSpPr>
        <p:spPr>
          <a:xfrm>
            <a:off x="9765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21" name="Shape 319"/>
          <p:cNvSpPr/>
          <p:nvPr/>
        </p:nvSpPr>
        <p:spPr>
          <a:xfrm>
            <a:off x="9873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22" name="Shape 320"/>
          <p:cNvSpPr/>
          <p:nvPr/>
        </p:nvSpPr>
        <p:spPr>
          <a:xfrm>
            <a:off x="9981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23" name="Shape 321"/>
          <p:cNvSpPr/>
          <p:nvPr/>
        </p:nvSpPr>
        <p:spPr>
          <a:xfrm>
            <a:off x="10089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24" name="Shape 322"/>
          <p:cNvSpPr/>
          <p:nvPr/>
        </p:nvSpPr>
        <p:spPr>
          <a:xfrm>
            <a:off x="10197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25" name="Shape 323"/>
          <p:cNvSpPr/>
          <p:nvPr/>
        </p:nvSpPr>
        <p:spPr>
          <a:xfrm>
            <a:off x="10305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26" name="Shape 324"/>
          <p:cNvSpPr/>
          <p:nvPr/>
        </p:nvSpPr>
        <p:spPr>
          <a:xfrm>
            <a:off x="10413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27" name="Shape 325"/>
          <p:cNvSpPr/>
          <p:nvPr/>
        </p:nvSpPr>
        <p:spPr>
          <a:xfrm>
            <a:off x="10521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28" name="Shape 326"/>
          <p:cNvSpPr/>
          <p:nvPr/>
        </p:nvSpPr>
        <p:spPr>
          <a:xfrm>
            <a:off x="10629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29" name="Shape 327"/>
          <p:cNvSpPr/>
          <p:nvPr/>
        </p:nvSpPr>
        <p:spPr>
          <a:xfrm>
            <a:off x="10737879" y="3531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30" name="Shape 328"/>
          <p:cNvSpPr/>
          <p:nvPr/>
        </p:nvSpPr>
        <p:spPr>
          <a:xfrm>
            <a:off x="9765879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31" name="Shape 329"/>
          <p:cNvSpPr/>
          <p:nvPr/>
        </p:nvSpPr>
        <p:spPr>
          <a:xfrm>
            <a:off x="9873879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32" name="Shape 330"/>
          <p:cNvSpPr/>
          <p:nvPr/>
        </p:nvSpPr>
        <p:spPr>
          <a:xfrm>
            <a:off x="9981879" y="3639564"/>
            <a:ext cx="75600" cy="7560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33" name="Shape 331"/>
          <p:cNvSpPr/>
          <p:nvPr/>
        </p:nvSpPr>
        <p:spPr>
          <a:xfrm>
            <a:off x="10089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34" name="Shape 332"/>
          <p:cNvSpPr/>
          <p:nvPr/>
        </p:nvSpPr>
        <p:spPr>
          <a:xfrm>
            <a:off x="10197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35" name="Shape 333"/>
          <p:cNvSpPr/>
          <p:nvPr/>
        </p:nvSpPr>
        <p:spPr>
          <a:xfrm>
            <a:off x="10305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36" name="Shape 334"/>
          <p:cNvSpPr/>
          <p:nvPr/>
        </p:nvSpPr>
        <p:spPr>
          <a:xfrm>
            <a:off x="10413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37" name="Shape 335"/>
          <p:cNvSpPr/>
          <p:nvPr/>
        </p:nvSpPr>
        <p:spPr>
          <a:xfrm>
            <a:off x="10521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38" name="Shape 336"/>
          <p:cNvSpPr/>
          <p:nvPr/>
        </p:nvSpPr>
        <p:spPr>
          <a:xfrm>
            <a:off x="10629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39" name="Shape 337"/>
          <p:cNvSpPr/>
          <p:nvPr/>
        </p:nvSpPr>
        <p:spPr>
          <a:xfrm>
            <a:off x="10737879" y="363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40" name="Shape 338"/>
          <p:cNvSpPr/>
          <p:nvPr/>
        </p:nvSpPr>
        <p:spPr>
          <a:xfrm>
            <a:off x="9765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41" name="Shape 339"/>
          <p:cNvSpPr/>
          <p:nvPr/>
        </p:nvSpPr>
        <p:spPr>
          <a:xfrm>
            <a:off x="9873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42" name="Shape 340"/>
          <p:cNvSpPr/>
          <p:nvPr/>
        </p:nvSpPr>
        <p:spPr>
          <a:xfrm>
            <a:off x="9981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43" name="Shape 341"/>
          <p:cNvSpPr/>
          <p:nvPr/>
        </p:nvSpPr>
        <p:spPr>
          <a:xfrm>
            <a:off x="10089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44" name="Shape 342"/>
          <p:cNvSpPr/>
          <p:nvPr/>
        </p:nvSpPr>
        <p:spPr>
          <a:xfrm>
            <a:off x="10197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45" name="Shape 343"/>
          <p:cNvSpPr/>
          <p:nvPr/>
        </p:nvSpPr>
        <p:spPr>
          <a:xfrm>
            <a:off x="10305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46" name="Shape 344"/>
          <p:cNvSpPr/>
          <p:nvPr/>
        </p:nvSpPr>
        <p:spPr>
          <a:xfrm>
            <a:off x="10413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47" name="Shape 345"/>
          <p:cNvSpPr/>
          <p:nvPr/>
        </p:nvSpPr>
        <p:spPr>
          <a:xfrm>
            <a:off x="10521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48" name="Shape 346"/>
          <p:cNvSpPr/>
          <p:nvPr/>
        </p:nvSpPr>
        <p:spPr>
          <a:xfrm>
            <a:off x="10629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49" name="Shape 347"/>
          <p:cNvSpPr/>
          <p:nvPr/>
        </p:nvSpPr>
        <p:spPr>
          <a:xfrm>
            <a:off x="10737879" y="374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50" name="Shape 348"/>
          <p:cNvSpPr/>
          <p:nvPr/>
        </p:nvSpPr>
        <p:spPr>
          <a:xfrm>
            <a:off x="9765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51" name="Shape 349"/>
          <p:cNvSpPr/>
          <p:nvPr/>
        </p:nvSpPr>
        <p:spPr>
          <a:xfrm>
            <a:off x="9873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52" name="Shape 350"/>
          <p:cNvSpPr/>
          <p:nvPr/>
        </p:nvSpPr>
        <p:spPr>
          <a:xfrm>
            <a:off x="9981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53" name="Shape 351"/>
          <p:cNvSpPr/>
          <p:nvPr/>
        </p:nvSpPr>
        <p:spPr>
          <a:xfrm>
            <a:off x="10089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54" name="Shape 352"/>
          <p:cNvSpPr/>
          <p:nvPr/>
        </p:nvSpPr>
        <p:spPr>
          <a:xfrm>
            <a:off x="10197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55" name="Shape 353"/>
          <p:cNvSpPr/>
          <p:nvPr/>
        </p:nvSpPr>
        <p:spPr>
          <a:xfrm>
            <a:off x="10305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56" name="Shape 354"/>
          <p:cNvSpPr/>
          <p:nvPr/>
        </p:nvSpPr>
        <p:spPr>
          <a:xfrm>
            <a:off x="10413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57" name="Shape 355"/>
          <p:cNvSpPr/>
          <p:nvPr/>
        </p:nvSpPr>
        <p:spPr>
          <a:xfrm>
            <a:off x="10521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58" name="Shape 356"/>
          <p:cNvSpPr/>
          <p:nvPr/>
        </p:nvSpPr>
        <p:spPr>
          <a:xfrm>
            <a:off x="10629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59" name="Shape 357"/>
          <p:cNvSpPr/>
          <p:nvPr/>
        </p:nvSpPr>
        <p:spPr>
          <a:xfrm>
            <a:off x="10737879" y="385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60" name="Shape 358"/>
          <p:cNvSpPr/>
          <p:nvPr/>
        </p:nvSpPr>
        <p:spPr>
          <a:xfrm>
            <a:off x="9765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61" name="Shape 359"/>
          <p:cNvSpPr/>
          <p:nvPr/>
        </p:nvSpPr>
        <p:spPr>
          <a:xfrm>
            <a:off x="9873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62" name="Shape 360"/>
          <p:cNvSpPr/>
          <p:nvPr/>
        </p:nvSpPr>
        <p:spPr>
          <a:xfrm>
            <a:off x="9981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63" name="Shape 361"/>
          <p:cNvSpPr/>
          <p:nvPr/>
        </p:nvSpPr>
        <p:spPr>
          <a:xfrm>
            <a:off x="10089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64" name="Shape 362"/>
          <p:cNvSpPr/>
          <p:nvPr/>
        </p:nvSpPr>
        <p:spPr>
          <a:xfrm>
            <a:off x="10197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65" name="Shape 363"/>
          <p:cNvSpPr/>
          <p:nvPr/>
        </p:nvSpPr>
        <p:spPr>
          <a:xfrm>
            <a:off x="10305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66" name="Shape 364"/>
          <p:cNvSpPr/>
          <p:nvPr/>
        </p:nvSpPr>
        <p:spPr>
          <a:xfrm>
            <a:off x="10413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67" name="Shape 365"/>
          <p:cNvSpPr/>
          <p:nvPr/>
        </p:nvSpPr>
        <p:spPr>
          <a:xfrm>
            <a:off x="10521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68" name="Shape 366"/>
          <p:cNvSpPr/>
          <p:nvPr/>
        </p:nvSpPr>
        <p:spPr>
          <a:xfrm>
            <a:off x="10629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69" name="Shape 367"/>
          <p:cNvSpPr/>
          <p:nvPr/>
        </p:nvSpPr>
        <p:spPr>
          <a:xfrm>
            <a:off x="10737879" y="396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70" name="Shape 368"/>
          <p:cNvSpPr/>
          <p:nvPr/>
        </p:nvSpPr>
        <p:spPr>
          <a:xfrm>
            <a:off x="9765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71" name="Shape 369"/>
          <p:cNvSpPr/>
          <p:nvPr/>
        </p:nvSpPr>
        <p:spPr>
          <a:xfrm>
            <a:off x="9873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72" name="Shape 370"/>
          <p:cNvSpPr/>
          <p:nvPr/>
        </p:nvSpPr>
        <p:spPr>
          <a:xfrm>
            <a:off x="9981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73" name="Shape 371"/>
          <p:cNvSpPr/>
          <p:nvPr/>
        </p:nvSpPr>
        <p:spPr>
          <a:xfrm>
            <a:off x="10089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74" name="Shape 372"/>
          <p:cNvSpPr/>
          <p:nvPr/>
        </p:nvSpPr>
        <p:spPr>
          <a:xfrm>
            <a:off x="10197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75" name="Shape 373"/>
          <p:cNvSpPr/>
          <p:nvPr/>
        </p:nvSpPr>
        <p:spPr>
          <a:xfrm>
            <a:off x="10305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76" name="Shape 374"/>
          <p:cNvSpPr/>
          <p:nvPr/>
        </p:nvSpPr>
        <p:spPr>
          <a:xfrm>
            <a:off x="10413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77" name="Shape 375"/>
          <p:cNvSpPr/>
          <p:nvPr/>
        </p:nvSpPr>
        <p:spPr>
          <a:xfrm>
            <a:off x="10521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78" name="Shape 376"/>
          <p:cNvSpPr/>
          <p:nvPr/>
        </p:nvSpPr>
        <p:spPr>
          <a:xfrm>
            <a:off x="10629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79" name="Shape 377"/>
          <p:cNvSpPr/>
          <p:nvPr/>
        </p:nvSpPr>
        <p:spPr>
          <a:xfrm>
            <a:off x="10737879" y="4071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80" name="Shape 378"/>
          <p:cNvSpPr/>
          <p:nvPr/>
        </p:nvSpPr>
        <p:spPr>
          <a:xfrm>
            <a:off x="9765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81" name="Shape 379"/>
          <p:cNvSpPr/>
          <p:nvPr/>
        </p:nvSpPr>
        <p:spPr>
          <a:xfrm>
            <a:off x="9873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82" name="Shape 380"/>
          <p:cNvSpPr/>
          <p:nvPr/>
        </p:nvSpPr>
        <p:spPr>
          <a:xfrm>
            <a:off x="9981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83" name="Shape 381"/>
          <p:cNvSpPr/>
          <p:nvPr/>
        </p:nvSpPr>
        <p:spPr>
          <a:xfrm>
            <a:off x="10089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84" name="Shape 382"/>
          <p:cNvSpPr/>
          <p:nvPr/>
        </p:nvSpPr>
        <p:spPr>
          <a:xfrm>
            <a:off x="10197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85" name="Shape 383"/>
          <p:cNvSpPr/>
          <p:nvPr/>
        </p:nvSpPr>
        <p:spPr>
          <a:xfrm>
            <a:off x="10305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86" name="Shape 384"/>
          <p:cNvSpPr/>
          <p:nvPr/>
        </p:nvSpPr>
        <p:spPr>
          <a:xfrm>
            <a:off x="10413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87" name="Shape 385"/>
          <p:cNvSpPr/>
          <p:nvPr/>
        </p:nvSpPr>
        <p:spPr>
          <a:xfrm>
            <a:off x="10521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88" name="Shape 386"/>
          <p:cNvSpPr/>
          <p:nvPr/>
        </p:nvSpPr>
        <p:spPr>
          <a:xfrm>
            <a:off x="10629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89" name="Shape 387"/>
          <p:cNvSpPr/>
          <p:nvPr/>
        </p:nvSpPr>
        <p:spPr>
          <a:xfrm>
            <a:off x="10737879" y="4179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90" name="Shape 388"/>
          <p:cNvSpPr/>
          <p:nvPr/>
        </p:nvSpPr>
        <p:spPr>
          <a:xfrm>
            <a:off x="9765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91" name="Shape 389"/>
          <p:cNvSpPr/>
          <p:nvPr/>
        </p:nvSpPr>
        <p:spPr>
          <a:xfrm>
            <a:off x="9873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92" name="Shape 390"/>
          <p:cNvSpPr/>
          <p:nvPr/>
        </p:nvSpPr>
        <p:spPr>
          <a:xfrm>
            <a:off x="9981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93" name="Shape 391"/>
          <p:cNvSpPr/>
          <p:nvPr/>
        </p:nvSpPr>
        <p:spPr>
          <a:xfrm>
            <a:off x="10089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94" name="Shape 392"/>
          <p:cNvSpPr/>
          <p:nvPr/>
        </p:nvSpPr>
        <p:spPr>
          <a:xfrm>
            <a:off x="10197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95" name="Shape 393"/>
          <p:cNvSpPr/>
          <p:nvPr/>
        </p:nvSpPr>
        <p:spPr>
          <a:xfrm>
            <a:off x="10305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96" name="Shape 394"/>
          <p:cNvSpPr/>
          <p:nvPr/>
        </p:nvSpPr>
        <p:spPr>
          <a:xfrm>
            <a:off x="10413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97" name="Shape 395"/>
          <p:cNvSpPr/>
          <p:nvPr/>
        </p:nvSpPr>
        <p:spPr>
          <a:xfrm>
            <a:off x="10521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98" name="Shape 396"/>
          <p:cNvSpPr/>
          <p:nvPr/>
        </p:nvSpPr>
        <p:spPr>
          <a:xfrm>
            <a:off x="10629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399" name="Shape 397"/>
          <p:cNvSpPr/>
          <p:nvPr/>
        </p:nvSpPr>
        <p:spPr>
          <a:xfrm>
            <a:off x="10737879" y="4287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00" name="Shape 398"/>
          <p:cNvSpPr/>
          <p:nvPr/>
        </p:nvSpPr>
        <p:spPr>
          <a:xfrm>
            <a:off x="9765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01" name="Shape 399"/>
          <p:cNvSpPr/>
          <p:nvPr/>
        </p:nvSpPr>
        <p:spPr>
          <a:xfrm>
            <a:off x="9873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02" name="Shape 400"/>
          <p:cNvSpPr/>
          <p:nvPr/>
        </p:nvSpPr>
        <p:spPr>
          <a:xfrm>
            <a:off x="9981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03" name="Shape 401"/>
          <p:cNvSpPr/>
          <p:nvPr/>
        </p:nvSpPr>
        <p:spPr>
          <a:xfrm>
            <a:off x="10089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04" name="Shape 402"/>
          <p:cNvSpPr/>
          <p:nvPr/>
        </p:nvSpPr>
        <p:spPr>
          <a:xfrm>
            <a:off x="10197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05" name="Shape 403"/>
          <p:cNvSpPr/>
          <p:nvPr/>
        </p:nvSpPr>
        <p:spPr>
          <a:xfrm>
            <a:off x="10305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06" name="Shape 404"/>
          <p:cNvSpPr/>
          <p:nvPr/>
        </p:nvSpPr>
        <p:spPr>
          <a:xfrm>
            <a:off x="10413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07" name="Shape 405"/>
          <p:cNvSpPr/>
          <p:nvPr/>
        </p:nvSpPr>
        <p:spPr>
          <a:xfrm>
            <a:off x="10521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08" name="Shape 406"/>
          <p:cNvSpPr/>
          <p:nvPr/>
        </p:nvSpPr>
        <p:spPr>
          <a:xfrm>
            <a:off x="10629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09" name="Shape 407"/>
          <p:cNvSpPr/>
          <p:nvPr/>
        </p:nvSpPr>
        <p:spPr>
          <a:xfrm>
            <a:off x="10737879" y="4395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10" name="Shape 408"/>
          <p:cNvSpPr/>
          <p:nvPr/>
        </p:nvSpPr>
        <p:spPr>
          <a:xfrm>
            <a:off x="9765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11" name="Shape 409"/>
          <p:cNvSpPr/>
          <p:nvPr/>
        </p:nvSpPr>
        <p:spPr>
          <a:xfrm>
            <a:off x="9873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12" name="Shape 410"/>
          <p:cNvSpPr/>
          <p:nvPr/>
        </p:nvSpPr>
        <p:spPr>
          <a:xfrm>
            <a:off x="9981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13" name="Shape 411"/>
          <p:cNvSpPr/>
          <p:nvPr/>
        </p:nvSpPr>
        <p:spPr>
          <a:xfrm>
            <a:off x="10089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14" name="Shape 412"/>
          <p:cNvSpPr/>
          <p:nvPr/>
        </p:nvSpPr>
        <p:spPr>
          <a:xfrm>
            <a:off x="10197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15" name="Shape 413"/>
          <p:cNvSpPr/>
          <p:nvPr/>
        </p:nvSpPr>
        <p:spPr>
          <a:xfrm>
            <a:off x="10305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16" name="Shape 414"/>
          <p:cNvSpPr/>
          <p:nvPr/>
        </p:nvSpPr>
        <p:spPr>
          <a:xfrm>
            <a:off x="10413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17" name="Shape 415"/>
          <p:cNvSpPr/>
          <p:nvPr/>
        </p:nvSpPr>
        <p:spPr>
          <a:xfrm>
            <a:off x="10521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18" name="Shape 416"/>
          <p:cNvSpPr/>
          <p:nvPr/>
        </p:nvSpPr>
        <p:spPr>
          <a:xfrm>
            <a:off x="10629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19" name="Shape 417"/>
          <p:cNvSpPr/>
          <p:nvPr/>
        </p:nvSpPr>
        <p:spPr>
          <a:xfrm>
            <a:off x="10737879" y="4503564"/>
            <a:ext cx="75600" cy="75600"/>
          </a:xfrm>
          <a:prstGeom prst="rect">
            <a:avLst/>
          </a:prstGeom>
          <a:solidFill>
            <a:srgbClr val="E2DCD2"/>
          </a:solidFill>
          <a:ln/>
        </p:spPr>
        <p:txBody>
          <a:bodyPr/>
          <a:p/>
        </p:txBody>
      </p:sp>
      <p:sp>
        <p:nvSpPr>
          <p:cNvPr id="420" name="Text 418"/>
          <p:cNvSpPr/>
          <p:nvPr/>
        </p:nvSpPr>
        <p:spPr>
          <a:xfrm>
            <a:off x="8963735" y="4669164"/>
            <a:ext cx="265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6</a:t>
            </a:r>
            <a:endParaRPr lang="en-US" sz="900" dirty="0"/>
          </a:p>
        </p:txBody>
      </p:sp>
      <p:sp>
        <p:nvSpPr>
          <p:cNvPr id="421" name="TextBox 42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Structural Logic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Explaining claims logically through structured frameworks when quantitative data is unavailable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11 | Key Claim Panel + Visual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Key Claim Panel + Visual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1572768"/>
            <a:ext cx="2232000" cy="4599432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2072" y="1788768"/>
            <a:ext cx="18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5A68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2072" y="2209392"/>
            <a:ext cx="180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2DC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 (Category Name)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2072" y="4676040"/>
            <a:ext cx="180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 (Single-sentence slide takeaway)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96072" y="1609344"/>
            <a:ext cx="66907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Metric Name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786823" y="1609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Unit, YYYY-YYYY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96072" y="1883664"/>
            <a:ext cx="851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96072" y="1993392"/>
          <a:ext cx="8519551" cy="914400"/>
        </p:xfrm>
        <a:graphic>
          <a:graphicData uri="http://schemas.openxmlformats.org/drawingml/2006/table">
            <a:tbl>
              <a:tblPr/>
              <a:tblGrid>
                <a:gridCol w="1440000"/>
                <a:gridCol w="1152000"/>
                <a:gridCol w="5927551"/>
              </a:tblGrid>
              <a:tr h="1392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7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8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2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9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10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2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Label 11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Label 12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 PROCESS_MATRIX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Process × Perspective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116836"/>
            <a:ext cx="21945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Row Axis Name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70632" y="2116836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70632" y="2446020"/>
            <a:ext cx="2820314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18962" y="2116836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8962" y="2446020"/>
            <a:ext cx="2820314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67293" y="2116836"/>
            <a:ext cx="282031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67293" y="2446020"/>
            <a:ext cx="2820314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76072" y="2802636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Row Header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70632" y="261975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935224" y="276606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18962" y="261975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883554" y="276606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6072" y="3854196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Row Header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70632" y="367131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935224" y="381762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8962" y="367131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883554" y="381762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6072" y="4905756"/>
            <a:ext cx="2103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Row Header 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70632" y="472287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935224" y="486918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718962" y="472287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883554" y="486918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67293" y="4722876"/>
            <a:ext cx="2820314" cy="886968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31885" y="4869180"/>
            <a:ext cx="249113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150" dirty="0"/>
          </a:p>
        </p:txBody>
      </p:sp>
      <p:sp>
        <p:nvSpPr>
          <p:cNvPr id="34" name="TextBox 33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 NESTED_ROW_MATRIX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Nested Row Hierarchy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47088"/>
            <a:ext cx="2103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Major Category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79192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Sub-Category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39512" y="1847088"/>
            <a:ext cx="637611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" y="2176272"/>
            <a:ext cx="11039551" cy="0"/>
          </a:xfrm>
          <a:prstGeom prst="line">
            <a:avLst/>
          </a:prstGeom>
          <a:noFill/>
          <a:ln w="1524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76072" y="2286000"/>
            <a:ext cx="0" cy="2236622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04088" y="2286000"/>
            <a:ext cx="1883664" cy="22366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79192" y="2304288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39512" y="2322576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79192" y="3019349"/>
            <a:ext cx="8936431" cy="0"/>
          </a:xfrm>
          <a:prstGeom prst="line">
            <a:avLst/>
          </a:prstGeom>
          <a:noFill/>
          <a:ln w="762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679192" y="3092501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9512" y="3110789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679192" y="3807562"/>
            <a:ext cx="8936431" cy="0"/>
          </a:xfrm>
          <a:prstGeom prst="line">
            <a:avLst/>
          </a:prstGeom>
          <a:noFill/>
          <a:ln w="762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679192" y="3880714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9512" y="3899002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150" dirty="0"/>
          </a:p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6072" y="4650638"/>
            <a:ext cx="0" cy="144841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04088" y="4650638"/>
            <a:ext cx="1883664" cy="14484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5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76072" y="4595774"/>
            <a:ext cx="11039551" cy="0"/>
          </a:xfrm>
          <a:prstGeom prst="line">
            <a:avLst/>
          </a:prstGeom>
          <a:noFill/>
          <a:ln w="11430">
            <a:solidFill>
              <a:srgbClr val="8A7B6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679192" y="4668926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9512" y="4687214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679192" y="5383987"/>
            <a:ext cx="8936431" cy="0"/>
          </a:xfrm>
          <a:prstGeom prst="line">
            <a:avLst/>
          </a:prstGeom>
          <a:noFill/>
          <a:ln w="762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679192" y="5457139"/>
            <a:ext cx="2194560" cy="64190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9512" y="5475427"/>
            <a:ext cx="6376111" cy="56875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150" dirty="0"/>
          </a:p>
        </p:txBody>
      </p:sp>
      <p:sp>
        <p:nvSpPr>
          <p:cNvPr id="32" name="TextBox 3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 TIMELINE_MATRIX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Timeline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587752"/>
            <a:ext cx="164592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04872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04872" y="2587752"/>
            <a:ext cx="288737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75122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75122" y="2587752"/>
            <a:ext cx="288737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45373" y="2258568"/>
            <a:ext cx="28873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Column Header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45373" y="2587752"/>
            <a:ext cx="288737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6072" y="28712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04872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75122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5373" y="28712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" y="36393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6072" y="37856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04872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75122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5373" y="37856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" y="45537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76072" y="4700016"/>
            <a:ext cx="16459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04872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75122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45373" y="4700016"/>
            <a:ext cx="288737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" y="5468112"/>
            <a:ext cx="11039551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  ISSUE_TREE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Issue Tree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584448"/>
            <a:ext cx="2286000" cy="100584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3675888"/>
            <a:ext cx="19202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Core Issue to Deconstruct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62072" y="4087368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182112" y="2703576"/>
            <a:ext cx="0" cy="2767584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182112" y="270357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502152" y="2429256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39312" y="2484120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Sub-Issue 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5352" y="270357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65392" y="2415540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565392" y="241554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31152" y="2246376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Question 1-1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65392" y="2991612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31152" y="2822448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Question 1-2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82112" y="4087368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502152" y="3813048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39312" y="3867912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Sub-Issue 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45352" y="4087368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565392" y="3799332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65392" y="3799332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931152" y="3630168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Question 2-1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65392" y="4375404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931152" y="4206240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Question 2-2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182112" y="547116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502152" y="5196840"/>
            <a:ext cx="2743200" cy="548640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639312" y="5251704"/>
            <a:ext cx="2468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Sub-Issue 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45352" y="5471160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565392" y="5183124"/>
            <a:ext cx="0" cy="576072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565392" y="5183124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931152" y="5013960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Question 3-1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65392" y="5759196"/>
            <a:ext cx="320040" cy="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931152" y="5590032"/>
            <a:ext cx="4638751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Question 3-2</a:t>
            </a:r>
            <a:endParaRPr lang="en-US" sz="1150" dirty="0"/>
          </a:p>
        </p:txBody>
      </p:sp>
      <p:sp>
        <p:nvSpPr>
          <p:cNvPr id="41" name="TextBox 4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 SCR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Situation, Complication, Resolution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146554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Situation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" y="2530602"/>
            <a:ext cx="340553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6072" y="2695194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" y="3609594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" y="5164074"/>
            <a:ext cx="3405530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6072" y="5301234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3082" y="2146554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Complication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93082" y="2530602"/>
            <a:ext cx="340553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93082" y="2695194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93082" y="3609594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93082" y="5164074"/>
            <a:ext cx="3405530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393082" y="5301234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10093" y="2146554"/>
            <a:ext cx="34055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Resolution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10093" y="2530602"/>
            <a:ext cx="340553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10093" y="2695194"/>
            <a:ext cx="340553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0093" y="3609594"/>
            <a:ext cx="340553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10093" y="5164074"/>
            <a:ext cx="3405530" cy="0"/>
          </a:xfrm>
          <a:prstGeom prst="line">
            <a:avLst/>
          </a:prstGeom>
          <a:noFill/>
          <a:ln w="9525">
            <a:solidFill>
              <a:srgbClr val="8A7B6B"/>
            </a:solidFill>
            <a:prstDash val="sysDot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10093" y="5301234"/>
            <a:ext cx="340553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Note: Detail assumptions or notes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  ISSUE_TO_SOLUTION_MAP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Issue-to-Solution Mapping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159413"/>
            <a:ext cx="51082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Issues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" y="2525173"/>
            <a:ext cx="5108296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07328" y="2159413"/>
            <a:ext cx="51082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Initiatives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07328" y="2525173"/>
            <a:ext cx="5108296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" y="2808637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07328" y="2808637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07328" y="3210973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" y="3750469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07328" y="3750469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76072" y="3860197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07328" y="3860197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4262533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" y="4802029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507328" y="4802029"/>
            <a:ext cx="5108296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dash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76072" y="4911757"/>
            <a:ext cx="5108296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07328" y="4911757"/>
            <a:ext cx="5108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07328" y="5314093"/>
            <a:ext cx="51082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5400000">
            <a:off x="5986120" y="4230529"/>
            <a:ext cx="219456" cy="201168"/>
          </a:xfrm>
          <a:prstGeom prst="triangl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26 | Issues vs. Actions 2-Column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Issues vs. Actions 2-Column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544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Current Challenges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54477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6072" y="2027952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76072" y="2027952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" y="3409368"/>
            <a:ext cx="5447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6072" y="3409368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76072" y="3409368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" y="4790784"/>
            <a:ext cx="5447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6072" y="4790784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6072" y="4790784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67848" y="1572768"/>
            <a:ext cx="544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Action Plan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67848" y="1901952"/>
            <a:ext cx="5447776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67848" y="2027952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67848" y="2027952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7848" y="3409368"/>
            <a:ext cx="5447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167848" y="3409368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5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967848" y="3409368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67848" y="4790784"/>
            <a:ext cx="5447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167848" y="4790784"/>
            <a:ext cx="1584000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Label 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67848" y="4790784"/>
            <a:ext cx="3647776" cy="1381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50" dirty="0"/>
          </a:p>
        </p:txBody>
      </p:sp>
      <p:sp>
        <p:nvSpPr>
          <p:cNvPr id="30" name="TextBox 29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  ISSUE_CAUSE_SOLUTION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Issue -&gt; Root Cause -&gt; 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3106674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" y="3490722"/>
            <a:ext cx="322265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6072" y="3655314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" y="4341114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35298" y="4386834"/>
            <a:ext cx="292608" cy="201168"/>
          </a:xfrm>
          <a:prstGeom prst="rightArrow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255922" y="3106674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55922" y="3490722"/>
            <a:ext cx="322265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55922" y="3655314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55922" y="4341114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15149" y="4386834"/>
            <a:ext cx="292608" cy="201168"/>
          </a:xfrm>
          <a:prstGeom prst="rightArrow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35773" y="3106674"/>
            <a:ext cx="322265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35773" y="3490722"/>
            <a:ext cx="3222650" cy="0"/>
          </a:xfrm>
          <a:prstGeom prst="line">
            <a:avLst/>
          </a:prstGeom>
          <a:noFill/>
          <a:ln w="254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935773" y="3655314"/>
            <a:ext cx="322265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35773" y="4341114"/>
            <a:ext cx="322265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  CURRENT_TARGET_STATE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Current vs. Target State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50392" y="3006090"/>
            <a:ext cx="45596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" y="3353562"/>
            <a:ext cx="4559656" cy="0"/>
          </a:xfrm>
          <a:prstGeom prst="line">
            <a:avLst/>
          </a:prstGeom>
          <a:noFill/>
          <a:ln w="2032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0392" y="3499866"/>
            <a:ext cx="455965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" y="4030218"/>
            <a:ext cx="4559656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81648" y="3006090"/>
            <a:ext cx="45596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81648" y="3353562"/>
            <a:ext cx="4559656" cy="0"/>
          </a:xfrm>
          <a:prstGeom prst="line">
            <a:avLst/>
          </a:prstGeom>
          <a:noFill/>
          <a:ln w="2032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81648" y="3499866"/>
            <a:ext cx="455965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81648" y="4030218"/>
            <a:ext cx="4559656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12968" y="329869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TextBox 18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  CALC_FLOW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Calculation Logic 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74520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Metric Name, Unit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" y="2596896"/>
            <a:ext cx="319217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33780" y="4907280"/>
            <a:ext cx="548640" cy="432816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3780" y="4907280"/>
            <a:ext cx="548640" cy="432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97837" y="4041648"/>
            <a:ext cx="548640" cy="1298448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897837" y="4041648"/>
            <a:ext cx="548640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0129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61894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61894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0418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51122" y="2286000"/>
            <a:ext cx="365760" cy="3328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499762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99762" y="2596896"/>
            <a:ext cx="319217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57471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57471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99762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21528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821528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63819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85584" y="2743200"/>
            <a:ext cx="548640" cy="2596896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85584" y="2743200"/>
            <a:ext cx="548640" cy="2596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2787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74813" y="2286000"/>
            <a:ext cx="365760" cy="3328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8423453" y="2286000"/>
            <a:ext cx="31921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23453" y="2596896"/>
            <a:ext cx="319217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681161" y="4930060"/>
            <a:ext cx="548640" cy="410036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681161" y="4930060"/>
            <a:ext cx="548640" cy="410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81161" y="4793381"/>
            <a:ext cx="548640" cy="136679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423453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745218" y="4301338"/>
            <a:ext cx="548640" cy="1038758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745218" y="4301338"/>
            <a:ext cx="548640" cy="103875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745218" y="4164659"/>
            <a:ext cx="548640" cy="136679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487510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809275" y="2879879"/>
            <a:ext cx="548640" cy="2460217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0809275" y="2879879"/>
            <a:ext cx="548640" cy="246021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809275" y="2743200"/>
            <a:ext cx="548640" cy="136679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0551566" y="5385816"/>
            <a:ext cx="1064057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6072" y="6071616"/>
            <a:ext cx="182880" cy="18288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32104" y="6053328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221992" y="6071616"/>
            <a:ext cx="182880" cy="18288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478024" y="6053328"/>
            <a:ext cx="14630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100" dirty="0"/>
          </a:p>
        </p:txBody>
      </p:sp>
      <p:sp>
        <p:nvSpPr>
          <p:cNvPr id="53" name="TextBox 5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19 | Strategic Pillars &amp;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Strategic Pillars &amp; Foundation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009484"/>
            <a:ext cx="2651888" cy="2232000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8072" y="2189484"/>
            <a:ext cx="2327888" cy="18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71960" y="2009484"/>
            <a:ext cx="2651888" cy="2232000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33960" y="2189484"/>
            <a:ext cx="2327888" cy="18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7848" y="2009484"/>
            <a:ext cx="2651888" cy="2232000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29848" y="2189484"/>
            <a:ext cx="2327888" cy="18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3735" y="2009484"/>
            <a:ext cx="2651888" cy="2232000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25735" y="2189484"/>
            <a:ext cx="2327888" cy="18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" y="4565484"/>
            <a:ext cx="11039551" cy="45000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6072" y="4565484"/>
            <a:ext cx="10679551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A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Common Condition 1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Establish Text 5 enterprise-wide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" y="5285484"/>
            <a:ext cx="11039551" cy="45000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56072" y="5285484"/>
            <a:ext cx="10679551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5A6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Common Condition 2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Sustainably secure Text 6</a:t>
            </a:r>
            <a:endParaRPr lang="en-US" sz="1050" dirty="0"/>
          </a:p>
        </p:txBody>
      </p:sp>
      <p:sp>
        <p:nvSpPr>
          <p:cNvPr id="22" name="TextBox 2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20 | Opposing Chevrons (Dual Forces)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Opposing Chevrons (Dual Forces)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644768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" y="2722626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6072" y="2794626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" y="3872484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" y="3944484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" y="5022342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76072" y="5094342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9848" y="1644768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9848" y="2722626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39848" y="2794626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9848" y="3872484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9848" y="3944484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9848" y="5022342"/>
            <a:ext cx="4475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39848" y="5094342"/>
            <a:ext cx="4475776" cy="100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67848" y="2725984"/>
            <a:ext cx="1656000" cy="1092500"/>
          </a:xfrm>
          <a:custGeom>
            <a:avLst/>
            <a:gdLst/>
            <a:ahLst/>
            <a:cxnLst/>
            <a:rect l="l" t="t" r="r" b="b"/>
            <a:pathLst>
              <a:path w="1656000" h="1092500">
                <a:moveTo>
                  <a:pt x="0" y="0"/>
                </a:moveTo>
                <a:lnTo>
                  <a:pt x="1656000" y="0"/>
                </a:lnTo>
                <a:lnTo>
                  <a:pt x="1656000" y="852150"/>
                </a:lnTo>
                <a:lnTo>
                  <a:pt x="828000" y="1092500"/>
                </a:lnTo>
                <a:lnTo>
                  <a:pt x="0" y="852150"/>
                </a:lnTo>
                <a:close/>
              </a:path>
            </a:pathLst>
          </a:custGeom>
          <a:solidFill>
            <a:srgbClr val="32201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75848" y="2725984"/>
            <a:ext cx="1440000" cy="10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Revenues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Expand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67848" y="3926484"/>
            <a:ext cx="1656000" cy="1092500"/>
          </a:xfrm>
          <a:custGeom>
            <a:avLst/>
            <a:gdLst/>
            <a:ahLst/>
            <a:cxnLst/>
            <a:rect l="l" t="t" r="r" b="b"/>
            <a:pathLst>
              <a:path w="1656000" h="1092500">
                <a:moveTo>
                  <a:pt x="0" y="0"/>
                </a:moveTo>
                <a:lnTo>
                  <a:pt x="1656000" y="0"/>
                </a:lnTo>
                <a:lnTo>
                  <a:pt x="1656000" y="852150"/>
                </a:lnTo>
                <a:lnTo>
                  <a:pt x="828000" y="1092500"/>
                </a:lnTo>
                <a:lnTo>
                  <a:pt x="0" y="852150"/>
                </a:lnTo>
                <a:close/>
              </a:path>
            </a:pathLst>
          </a:custGeom>
          <a:solidFill>
            <a:srgbClr val="5A392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75848" y="3926484"/>
            <a:ext cx="1440000" cy="10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Losses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Mitigate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Process &amp; Implementation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Illustrating progression through stages, timelines, and causal flows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  PROCESS_FLOW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Process Flow Stages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18868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6072" y="318868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6072" y="384705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76072" y="426767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78760" y="318868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335960" y="318868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35960" y="318868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5960" y="384705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35960" y="426767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8648" y="318868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95848" y="318868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95848" y="318868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5848" y="384705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095848" y="426767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98535" y="318868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855735" y="3188684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55735" y="318868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55735" y="384705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5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855735" y="426767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29" name="TextBox 28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  CYCLE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Closed-Loop Cycle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55368" y="2377440"/>
            <a:ext cx="7680960" cy="3200400"/>
          </a:xfrm>
          <a:prstGeom prst="ellipse">
            <a:avLst/>
          </a:prstGeom>
          <a:ln w="12700">
            <a:solidFill>
              <a:srgbClr val="E2DCD2"/>
            </a:solidFill>
            <a:prstDash val="dash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2160000">
            <a:off x="7330830" y="3083555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6480000">
            <a:off x="8195814" y="4192783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rot="10800000">
            <a:off x="5931256" y="4878324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15120000">
            <a:off x="3666697" y="4192783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19440000">
            <a:off x="4531682" y="3083555"/>
            <a:ext cx="329184" cy="182880"/>
          </a:xfrm>
          <a:prstGeom prst="rightArrow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867248" y="1810512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86724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07128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07128" y="2761488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19761" y="2916223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519761" y="2916223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59641" y="3501439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59641" y="3867199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4625" y="4705301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124625" y="4705301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64505" y="5290517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4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64505" y="5656277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09870" y="4705301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09870" y="4705301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49750" y="5290517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5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649750" y="5656277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14734" y="2916223"/>
            <a:ext cx="457200" cy="457200"/>
          </a:xfrm>
          <a:prstGeom prst="ellipse">
            <a:avLst/>
          </a:prstGeom>
          <a:ln w="1905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214734" y="2916223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54614" y="3501439"/>
            <a:ext cx="2377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6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254614" y="3867199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100" dirty="0"/>
          </a:p>
        </p:txBody>
      </p:sp>
      <p:sp>
        <p:nvSpPr>
          <p:cNvPr id="36" name="TextBox 3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  CHEVRON_RAIL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Chevron Rail Stages (Overview Header)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50392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039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5331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331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83982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058302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05830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122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122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91892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266212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266212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9132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9132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99803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474123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474123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77043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77043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407713" y="3177540"/>
            <a:ext cx="2527950" cy="1371600"/>
          </a:xfrm>
          <a:prstGeom prst="chevron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682033" y="3662172"/>
            <a:ext cx="402336" cy="402336"/>
          </a:xfrm>
          <a:prstGeom prst="ellips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682033" y="3662172"/>
            <a:ext cx="4023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184953" y="3561588"/>
            <a:ext cx="156783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184953" y="3872484"/>
            <a:ext cx="156783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50" dirty="0"/>
          </a:p>
        </p:txBody>
      </p:sp>
      <p:sp>
        <p:nvSpPr>
          <p:cNvPr id="35" name="TextBox 34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05 | Chevrons (Process / Timeline)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Chevron Process / Progression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3346704"/>
            <a:ext cx="2732888" cy="1051560"/>
          </a:xfrm>
          <a:prstGeom prst="homePlate">
            <a:avLst>
              <a:gd name="adj" fmla="val 20541"/>
            </a:avLst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6072" y="3490704"/>
            <a:ext cx="2120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YYYY-MM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072" y="3765024"/>
            <a:ext cx="2120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6072" y="4075920"/>
            <a:ext cx="2120888" cy="21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44960" y="3346704"/>
            <a:ext cx="2732888" cy="1051560"/>
          </a:xfrm>
          <a:prstGeom prst="chevron">
            <a:avLst>
              <a:gd name="adj" fmla="val 20541"/>
            </a:avLst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68960" y="3490704"/>
            <a:ext cx="197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YYYY-MM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68960" y="3765024"/>
            <a:ext cx="197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68960" y="4075920"/>
            <a:ext cx="1976888" cy="21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13848" y="3346704"/>
            <a:ext cx="2732888" cy="1051560"/>
          </a:xfrm>
          <a:prstGeom prst="chevron">
            <a:avLst>
              <a:gd name="adj" fmla="val 20541"/>
            </a:avLst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37848" y="3490704"/>
            <a:ext cx="197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YYYY-MM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7848" y="3765024"/>
            <a:ext cx="197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37848" y="4075920"/>
            <a:ext cx="1976888" cy="21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82735" y="3346704"/>
            <a:ext cx="2732888" cy="1051560"/>
          </a:xfrm>
          <a:prstGeom prst="chevron">
            <a:avLst>
              <a:gd name="adj" fmla="val 20541"/>
            </a:avLst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206735" y="3490704"/>
            <a:ext cx="197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6735" y="3765024"/>
            <a:ext cx="197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06735" y="4075920"/>
            <a:ext cx="1976888" cy="21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  CHEVRON_VALUE_CHAIN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Value Chain Chevrons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874520"/>
            <a:ext cx="11039551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2185416"/>
            <a:ext cx="1733833" cy="411480"/>
          </a:xfrm>
          <a:prstGeom prst="homePlat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27025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36753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77978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87706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28931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38659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79884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89612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30837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40565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81790" y="2185416"/>
            <a:ext cx="1733833" cy="411480"/>
          </a:xfrm>
          <a:prstGeom prst="chevron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991518" y="2185416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45313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255041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96266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805994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47219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56947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98172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907900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49125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458853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900078" y="2724912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009806" y="2706624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" y="4041648"/>
            <a:ext cx="11039551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9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76072" y="4352544"/>
            <a:ext cx="1733833" cy="411480"/>
          </a:xfrm>
          <a:prstGeom prst="homePlate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85800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127025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236753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77978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787706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228931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338659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13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779884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889612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14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30837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440565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15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881790" y="4352544"/>
            <a:ext cx="1733833" cy="411480"/>
          </a:xfrm>
          <a:prstGeom prst="chevron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991518" y="4352544"/>
            <a:ext cx="1368073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16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94360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45313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255041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96266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805994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47219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356947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798172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907900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49125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458853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900078" y="4892040"/>
            <a:ext cx="0" cy="1033272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0009806" y="4873752"/>
            <a:ext cx="1276633" cy="11064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14</a:t>
            </a:r>
            <a:endParaRPr lang="en-US" sz="1000" dirty="0"/>
          </a:p>
        </p:txBody>
      </p:sp>
      <p:sp>
        <p:nvSpPr>
          <p:cNvPr id="66" name="TextBox 6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  DECISION_FORK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Decision Fork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94076"/>
            <a:ext cx="54864" cy="128016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939796"/>
            <a:ext cx="3767328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Question 1: State the strategic question under consideration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73752" y="2674620"/>
            <a:ext cx="0" cy="2377440"/>
          </a:xfrm>
          <a:prstGeom prst="line">
            <a:avLst/>
          </a:prstGeom>
          <a:noFill/>
          <a:ln w="1270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873752" y="2674620"/>
            <a:ext cx="274320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148072" y="2162556"/>
            <a:ext cx="6467551" cy="102412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76672" y="227228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376672" y="258318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76672" y="293065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3752" y="3863340"/>
            <a:ext cx="274320" cy="0"/>
          </a:xfrm>
          <a:prstGeom prst="line">
            <a:avLst/>
          </a:prstGeom>
          <a:noFill/>
          <a:ln w="2032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148072" y="3351276"/>
            <a:ext cx="6467551" cy="1024128"/>
          </a:xfrm>
          <a:prstGeom prst="rect">
            <a:avLst/>
          </a:prstGeom>
          <a:ln w="2032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376672" y="346100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376672" y="377190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6672" y="411937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73752" y="5052060"/>
            <a:ext cx="274320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148072" y="4539996"/>
            <a:ext cx="6467551" cy="102412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76672" y="4649724"/>
            <a:ext cx="60103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376672" y="4960620"/>
            <a:ext cx="6010351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76672" y="5308092"/>
            <a:ext cx="6010351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06 | Two-Column Premise -&gt; Conclusion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Premise -&gt; Conclusion 2-Column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572768"/>
            <a:ext cx="6234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Trajectory of Text 1 (Facts)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" y="1901952"/>
            <a:ext cx="623493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029968"/>
          <a:ext cx="6234931" cy="914400"/>
        </p:xfrm>
        <a:graphic>
          <a:graphicData uri="http://schemas.openxmlformats.org/drawingml/2006/table">
            <a:tbl>
              <a:tblPr/>
              <a:tblGrid>
                <a:gridCol w="1224000"/>
                <a:gridCol w="5010931"/>
              </a:tblGrid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YYYY-MM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YYYY-MM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0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A3921"/>
                          </a:solidFill>
                          <a:latin typeface="Yu Mincho Demibold" pitchFamily="34" charset="0"/>
                          <a:ea typeface="Yu Mincho Demibold" pitchFamily="34" charset="-122"/>
                          <a:cs typeface="Yu Mincho Demibold" pitchFamily="34" charset="-120"/>
                        </a:rPr>
                        <a:t>From YYYY-MM</a:t>
                      </a:r>
                      <a:endParaRPr lang="en-US" sz="1100" dirty="0">
                        <a:latin typeface="Yu Mincho Demibold" charset="0"/>
                        <a:ea typeface="Yu Mincho Demibold" charset="0"/>
                        <a:cs typeface="Yu Mincho Demibold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17780" cap="flat" cmpd="sng" algn="ctr">
                      <a:solidFill>
                        <a:srgbClr val="3220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2201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Text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 rot="5400000">
            <a:off x="6955003" y="3764484"/>
            <a:ext cx="360000" cy="216000"/>
          </a:xfrm>
          <a:prstGeom prst="triangle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459003" y="1572768"/>
            <a:ext cx="41566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Therefore, Text 2 Shifts as Follows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59003" y="1901952"/>
            <a:ext cx="4156620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459003" y="2029968"/>
            <a:ext cx="4156620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 (Standardize predicate endings within hierarchy)</a:t>
            </a:r>
            <a:endParaRPr lang="en-US" sz="10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63" name="TextBox 62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4088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335960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35960" y="2583180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63976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63976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095848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095848" y="2583180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23864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23864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855735" y="2583180"/>
            <a:ext cx="2741600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855735" y="2583180"/>
            <a:ext cx="0" cy="256032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983751" y="2793492"/>
            <a:ext cx="253128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83751" y="3342132"/>
            <a:ext cx="248556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20" dirty="0"/>
          </a:p>
        </p:txBody>
      </p:sp>
      <p:sp>
        <p:nvSpPr>
          <p:cNvPr id="25" name="TextBox 24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  GANTT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Gantt Chart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776472" y="1828800"/>
            <a:ext cx="5879363" cy="29260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76472" y="1828800"/>
            <a:ext cx="5879363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55835" y="1828800"/>
            <a:ext cx="1959788" cy="292608"/>
          </a:xfrm>
          <a:prstGeom prst="rect">
            <a:avLst/>
          </a:prstGeom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55835" y="1828800"/>
            <a:ext cx="195978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2973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82997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36260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9522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278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96048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49310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02573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55835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309098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62361" y="2157984"/>
            <a:ext cx="653263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" y="2468880"/>
            <a:ext cx="11039551" cy="0"/>
          </a:xfrm>
          <a:prstGeom prst="line">
            <a:avLst/>
          </a:prstGeom>
          <a:noFill/>
          <a:ln w="1778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011663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234423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18189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40949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77976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00736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37764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460524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197552" y="2542032"/>
            <a:ext cx="182880" cy="164592"/>
          </a:xfrm>
          <a:prstGeom prst="triangle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420312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29735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082997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736260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389522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7042785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696048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8349310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002573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655835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309098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962361" y="2468880"/>
            <a:ext cx="0" cy="3739896"/>
          </a:xfrm>
          <a:prstGeom prst="line">
            <a:avLst/>
          </a:prstGeom>
          <a:noFill/>
          <a:ln w="508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76072" y="3017520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76072" y="3017520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947672" y="3017520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13048" y="3144883"/>
            <a:ext cx="580111" cy="201168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76072" y="3473414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22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76072" y="3473414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1947672" y="3473414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23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466311" y="3600777"/>
            <a:ext cx="1233373" cy="201168"/>
          </a:xfrm>
          <a:prstGeom prst="rect">
            <a:avLst/>
          </a:prstGeom>
          <a:solidFill>
            <a:srgbClr val="C5A681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76072" y="3929307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24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76072" y="3929307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947672" y="3929307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119573" y="4056670"/>
            <a:ext cx="580111" cy="201168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76072" y="4385201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26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76072" y="4385201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947672" y="4385201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27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772836" y="4512564"/>
            <a:ext cx="1233373" cy="201168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76072" y="4841095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28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76072" y="4841095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1947672" y="4841095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29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426098" y="4968458"/>
            <a:ext cx="1233373" cy="201168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76072" y="5296989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30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76072" y="5296989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1947672" y="5296989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31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9039149" y="5424351"/>
            <a:ext cx="1233373" cy="201168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76072" y="5752882"/>
            <a:ext cx="12801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32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76072" y="5752882"/>
            <a:ext cx="11039551" cy="0"/>
          </a:xfrm>
          <a:prstGeom prst="line">
            <a:avLst/>
          </a:prstGeom>
          <a:noFill/>
          <a:ln w="1016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1947672" y="5752882"/>
            <a:ext cx="1737360" cy="45589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33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0345674" y="5880245"/>
            <a:ext cx="1233373" cy="201168"/>
          </a:xfrm>
          <a:prstGeom prst="rightArrow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76" name="TextBox 7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2869200"/>
            <a:ext cx="7920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5A3921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337200"/>
            <a:ext cx="7920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Recommendations &amp; Decisions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6072" y="3949200"/>
            <a:ext cx="792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Thematic listings, external evidence, and executive decision sign-off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64</a:t>
            </a:r>
            <a:endParaRPr lang="en-US" sz="7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  THEME_CARD_GRID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Theme Card Grid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16811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Metric Name, Unit, YYYY-YYYY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" y="2502027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9224" y="2529459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2959227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" y="3526155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" y="5290947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3.4x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67380" y="2502027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404540" y="2502027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77692" y="2529459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4540" y="2959227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04540" y="3526155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04540" y="5290947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+22%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095848" y="2502027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33008" y="2502027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06160" y="2529459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3008" y="2959227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33008" y="3526155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33008" y="5290947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-41%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8924315" y="2502027"/>
            <a:ext cx="0" cy="3200400"/>
          </a:xfrm>
          <a:prstGeom prst="line">
            <a:avLst/>
          </a:prstGeom>
          <a:noFill/>
          <a:ln w="12700">
            <a:solidFill>
              <a:srgbClr val="E2DCD2"/>
            </a:solidFill>
            <a:prstDash val="dot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061475" y="2502027"/>
            <a:ext cx="2554148" cy="274320"/>
          </a:xfrm>
          <a:prstGeom prst="rect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134627" y="2529459"/>
            <a:ext cx="24078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61475" y="2959227"/>
            <a:ext cx="255414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61475" y="3526155"/>
            <a:ext cx="2554148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061475" y="5290947"/>
            <a:ext cx="255414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92%</a:t>
            </a:r>
            <a:endParaRPr lang="en-US" sz="2600" dirty="0"/>
          </a:p>
        </p:txBody>
      </p:sp>
      <p:sp>
        <p:nvSpPr>
          <p:cNvPr id="34" name="TextBox 33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 RECOMMENDATION_PILLARS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Recommendation Pillars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660904"/>
            <a:ext cx="3375050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76072" y="2825496"/>
            <a:ext cx="457200" cy="457200"/>
          </a:xfrm>
          <a:prstGeom prst="ellipse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6072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" y="3429000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" y="3941064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4581144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08322" y="2660904"/>
            <a:ext cx="3375050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408322" y="2825496"/>
            <a:ext cx="457200" cy="457200"/>
          </a:xfrm>
          <a:prstGeom prst="ellipse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08322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08322" y="3429000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08322" y="3941064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08322" y="4581144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40573" y="2660904"/>
            <a:ext cx="3375050" cy="0"/>
          </a:xfrm>
          <a:prstGeom prst="line">
            <a:avLst/>
          </a:prstGeom>
          <a:noFill/>
          <a:ln w="3175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240573" y="2825496"/>
            <a:ext cx="457200" cy="457200"/>
          </a:xfrm>
          <a:prstGeom prst="ellipse">
            <a:avLst/>
          </a:prstGeom>
          <a:solidFill>
            <a:srgbClr val="5A392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40573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40573" y="3429000"/>
            <a:ext cx="337505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40573" y="3941064"/>
            <a:ext cx="337505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40573" y="4581144"/>
            <a:ext cx="337505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200" dirty="0"/>
          </a:p>
          <a:p>
            <a:pPr algn="l" marL="152400" indent="-152400">
              <a:buSzPct val="100000"/>
              <a:buChar char="•"/>
            </a:pPr>
            <a:r>
              <a:rPr lang="en-US" sz="12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9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  NUMBERED_IMPERATIVES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Numbered Strategic Imperatives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791206"/>
            <a:ext cx="11039551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Metric Name, Unit, YYYY-YYYY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" y="3376422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76072" y="3943350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6072" y="4053078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" y="4656582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7134" y="3376422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2857134" y="3943350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57134" y="4053078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57134" y="4656582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38196" y="3376422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138196" y="3943350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38196" y="4053078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38196" y="4656582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19259" y="3376422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7419259" y="3943350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19259" y="4053078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19259" y="4656582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00321" y="3376422"/>
            <a:ext cx="191530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9700321" y="3943350"/>
            <a:ext cx="1915302" cy="0"/>
          </a:xfrm>
          <a:prstGeom prst="line">
            <a:avLst/>
          </a:prstGeom>
          <a:noFill/>
          <a:ln w="1270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00321" y="4053078"/>
            <a:ext cx="191530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700321" y="4656582"/>
            <a:ext cx="1915302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08 | 2x2 Parallel Cards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2×2 Card Grid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1572768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20072" y="1698768"/>
            <a:ext cx="5159776" cy="258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1: Label 2 (Standardize as Subject + Action)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0072" y="1993392"/>
            <a:ext cx="5159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20072" y="2084832"/>
            <a:ext cx="5141776" cy="160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7848" y="1572768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11848" y="1698768"/>
            <a:ext cx="5159776" cy="258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3: Label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11848" y="1993392"/>
            <a:ext cx="5159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11848" y="2084832"/>
            <a:ext cx="5141776" cy="160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" y="3944484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20072" y="4070484"/>
            <a:ext cx="5159776" cy="258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5: Label 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0072" y="4365108"/>
            <a:ext cx="5159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20072" y="4456548"/>
            <a:ext cx="5141776" cy="160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5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7848" y="3944484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11848" y="4070484"/>
            <a:ext cx="5159776" cy="25804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7: Label 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11848" y="4365108"/>
            <a:ext cx="5159776" cy="0"/>
          </a:xfrm>
          <a:prstGeom prst="line">
            <a:avLst/>
          </a:prstGeom>
          <a:noFill/>
          <a:ln w="9525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311848" y="4456548"/>
            <a:ext cx="5141776" cy="160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7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21 | External Evidence / Market Trends Grid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External Evidence / Market Trends Grid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 (M/D/YYYY), Source 2 (M/D/YYYY)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1572768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56072" y="1734768"/>
            <a:ext cx="797220" cy="18288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56072" y="1734768"/>
            <a:ext cx="797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Category 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56072" y="1989648"/>
            <a:ext cx="5087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YYYY-MM-DD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56072" y="2226240"/>
            <a:ext cx="508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6072" y="2517696"/>
            <a:ext cx="5087776" cy="112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67848" y="1572768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47848" y="1734768"/>
            <a:ext cx="797220" cy="18288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47848" y="1734768"/>
            <a:ext cx="797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Category 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47848" y="1989648"/>
            <a:ext cx="5087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YYYY-MM-DD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47848" y="2226240"/>
            <a:ext cx="508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47848" y="2517696"/>
            <a:ext cx="5087776" cy="112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6072" y="3944484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56072" y="4106484"/>
            <a:ext cx="797220" cy="18288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56072" y="4106484"/>
            <a:ext cx="797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Category 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56072" y="4361364"/>
            <a:ext cx="5087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YYYY-MM-DD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6072" y="4597956"/>
            <a:ext cx="508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6072" y="4889412"/>
            <a:ext cx="5087776" cy="112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67848" y="3944484"/>
            <a:ext cx="5447776" cy="2227716"/>
          </a:xfrm>
          <a:prstGeom prst="rect">
            <a:avLst/>
          </a:prstGeom>
          <a:solidFill>
            <a:srgbClr val="EFEEE8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347848" y="4106484"/>
            <a:ext cx="797220" cy="182880"/>
          </a:xfrm>
          <a:prstGeom prst="rect">
            <a:avLst/>
          </a:prstGeom>
          <a:solidFill>
            <a:srgbClr val="322014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47848" y="4106484"/>
            <a:ext cx="797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Category 4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47848" y="4361364"/>
            <a:ext cx="5087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YYYY-MM-DD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47848" y="4597956"/>
            <a:ext cx="508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Text 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47848" y="4889412"/>
            <a:ext cx="5087776" cy="112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8</a:t>
            </a:r>
            <a:endParaRPr lang="en-US" sz="850" dirty="0"/>
          </a:p>
        </p:txBody>
      </p:sp>
      <p:sp>
        <p:nvSpPr>
          <p:cNvPr id="34" name="TextBox 33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 / HTML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 Archetype Catalog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  DECISION_PAGE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32201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22014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Executive Decision Page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Source: Source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Archetype Catalog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94076"/>
            <a:ext cx="5212080" cy="0"/>
          </a:xfrm>
          <a:prstGeom prst="line">
            <a:avLst/>
          </a:prstGeom>
          <a:noFill/>
          <a:ln w="27940">
            <a:solidFill>
              <a:srgbClr val="5A392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6072" y="3104388"/>
            <a:ext cx="2194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7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Recommended Decision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" y="3470148"/>
            <a:ext cx="53035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2921508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2921508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3406140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17920" y="3634740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3634740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3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4119372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17920" y="4347972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39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4347972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22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 4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72200" y="4832604"/>
            <a:ext cx="5074920" cy="0"/>
          </a:xfrm>
          <a:prstGeom prst="line">
            <a:avLst/>
          </a:prstGeom>
          <a:noFill/>
          <a:ln w="6350">
            <a:solidFill>
              <a:srgbClr val="E2DCD2"/>
            </a:solidFill>
            <a:prstDash val="solid"/>
          </a:ln>
        </p:spPr>
        <p:txBody>
          <a:bodyPr/>
          <a:p/>
        </p:txBody>
      </p:sp>
      <p:sp>
        <p:nvSpPr>
          <p:cNvPr id="22" name="TextBox 21"/>
          <p:cNvSpPr txBox="1"/>
          <p:nvPr/>
        </p:nvSpPr>
        <p:spPr>
          <a:xfrm>
            <a:off x="10015423" y="656539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0">
                <a:solidFill>
                  <a:srgbClr val="8A7B6B"/>
                </a:solidFill>
                <a:latin typeface="Yu Gothic"/>
              </a:rPr>
              <a:t>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Consulting Slide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スライド型カタログ</dc:title>
  <dc:subject>Editable synthetic consulting deck generated from SlideSpec</dc:subject>
  <dc:creator>Consulting Slide Lab</dc:creator>
  <cp:lastModifiedBy>Consulting Slide Lab</cp:lastModifiedBy>
  <cp:revision>1</cp:revision>
  <dcterms:created xsi:type="dcterms:W3CDTF">2026-09-04T23:52:05Z</dcterms:created>
  <dcterms:modified xsi:type="dcterms:W3CDTF">2026-09-04T23:52:05Z</dcterms:modified>
</cp:coreProperties>
</file>